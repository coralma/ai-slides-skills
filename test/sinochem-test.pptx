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15997" y="3311624"/>
            <a:ext cx="380999" cy="19050"/>
          </a:xfrm>
          <a:prstGeom prst="roundRect">
            <a:avLst>
              <a:gd name="adj" fmla="val 50000"/>
            </a:avLst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15997" y="3751957"/>
            <a:ext cx="1995482" cy="365621"/>
          </a:xfrm>
          <a:prstGeom prst="rect">
            <a:avLst/>
          </a:prstGeom>
          <a:noFill/>
          <a:ln w="9525">
            <a:solidFill>
              <a:srgbClr val="E5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541988" y="6596955"/>
            <a:ext cx="9525" cy="71239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g_44206849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98" y="6467276"/>
            <a:ext cx="189408" cy="2192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15997" y="1986160"/>
            <a:ext cx="804585" cy="1623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9" b="1" i="0">
                <a:solidFill>
                  <a:srgbClr val="00A758"/>
                </a:solidFill>
                <a:latin typeface="Manrope"/>
                <a:ea typeface="Manrope"/>
                <a:cs typeface="Manrope"/>
              </a:rPr>
              <a:t>2025 年度报告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5997" y="2138263"/>
            <a:ext cx="4280432" cy="7818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519" b="1" i="0">
                <a:solidFill>
                  <a:srgbClr val="00A758"/>
                </a:solidFill>
                <a:latin typeface="Noto Sans SC"/>
                <a:ea typeface="Noto Sans SC"/>
                <a:cs typeface="Noto Sans SC"/>
              </a:rPr>
              <a:t>中宏保险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5997" y="2665809"/>
            <a:ext cx="4280432" cy="7818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51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客户服务与产品创新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5997" y="3411934"/>
            <a:ext cx="2419656" cy="184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83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聚焦客户价值 · 深化服务体验 · 推动高质量发展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5997" y="3861097"/>
            <a:ext cx="618824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23" b="0" i="0">
                <a:solidFill>
                  <a:srgbClr val="8A9B90"/>
                </a:solidFill>
                <a:latin typeface="Manrope"/>
                <a:ea typeface="Manrope"/>
                <a:cs typeface="Manrope"/>
              </a:rPr>
              <a:t>报告日期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5997" y="3984228"/>
            <a:ext cx="619840" cy="1623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9" b="1" i="0">
                <a:solidFill>
                  <a:srgbClr val="0F1A13"/>
                </a:solidFill>
                <a:latin typeface="Manrope"/>
                <a:ea typeface="Manrope"/>
                <a:cs typeface="Manrope"/>
              </a:rPr>
              <a:t>2025 年 5 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2403" y="3861097"/>
            <a:ext cx="655337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23" b="0" i="0">
                <a:solidFill>
                  <a:srgbClr val="8A9B90"/>
                </a:solidFill>
                <a:latin typeface="Manrope"/>
                <a:ea typeface="Manrope"/>
                <a:cs typeface="Manrope"/>
              </a:rPr>
              <a:t>发布部门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2403" y="3984228"/>
            <a:ext cx="656353" cy="1623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9" b="1" i="0">
                <a:solidFill>
                  <a:srgbClr val="0F1A13"/>
                </a:solidFill>
                <a:latin typeface="Manrope"/>
                <a:ea typeface="Manrope"/>
                <a:cs typeface="Manrope"/>
              </a:rPr>
              <a:t>战略与品牌部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25321" y="3861097"/>
            <a:ext cx="462357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23" b="0" i="0">
                <a:solidFill>
                  <a:srgbClr val="8A9B90"/>
                </a:solidFill>
                <a:latin typeface="Manrope"/>
                <a:ea typeface="Manrope"/>
                <a:cs typeface="Manrope"/>
              </a:rPr>
              <a:t>保密级别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25321" y="3984228"/>
            <a:ext cx="463373" cy="16230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9" b="1" i="0">
                <a:solidFill>
                  <a:srgbClr val="0F1A13"/>
                </a:solidFill>
                <a:latin typeface="Manrope"/>
                <a:ea typeface="Manrope"/>
                <a:cs typeface="Manrope"/>
              </a:rPr>
              <a:t>内部资料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8206" y="6494363"/>
            <a:ext cx="548637" cy="199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99" b="1" i="0">
                <a:solidFill>
                  <a:srgbClr val="00A758"/>
                </a:solidFill>
                <a:latin typeface="Noto Sans SC"/>
                <a:ea typeface="Noto Sans SC"/>
                <a:cs typeface="Noto Sans SC"/>
              </a:rPr>
              <a:t>中宏保险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14492" y="6578600"/>
            <a:ext cx="165594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23" b="1" i="0">
                <a:solidFill>
                  <a:srgbClr val="0F1A13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86438" y="6578600"/>
            <a:ext cx="173730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23" b="0" i="0">
                <a:solidFill>
                  <a:srgbClr val="8A9B90"/>
                </a:solidFill>
                <a:latin typeface="Manrope"/>
                <a:ea typeface="Manrope"/>
                <a:cs typeface="Manrope"/>
              </a:rPr>
              <a:t>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7998" y="1103510"/>
            <a:ext cx="380999" cy="19050"/>
          </a:xfrm>
          <a:prstGeom prst="roundRect">
            <a:avLst>
              <a:gd name="adj" fmla="val 50000"/>
            </a:avLst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7998" y="1274960"/>
            <a:ext cx="3603417" cy="1103014"/>
          </a:xfrm>
          <a:prstGeom prst="roundRect">
            <a:avLst>
              <a:gd name="adj" fmla="val 6908"/>
            </a:avLst>
          </a:prstGeom>
          <a:solidFill>
            <a:srgbClr val="F7F9F8"/>
          </a:solidFill>
          <a:ln w="9525">
            <a:solidFill>
              <a:srgbClr val="E5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294275" y="1274960"/>
            <a:ext cx="3603417" cy="1103014"/>
          </a:xfrm>
          <a:prstGeom prst="roundRect">
            <a:avLst>
              <a:gd name="adj" fmla="val 6908"/>
            </a:avLst>
          </a:prstGeom>
          <a:solidFill>
            <a:srgbClr val="F7F9F8"/>
          </a:solidFill>
          <a:ln w="9525">
            <a:solidFill>
              <a:srgbClr val="E5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80552" y="1274960"/>
            <a:ext cx="3603417" cy="1103014"/>
          </a:xfrm>
          <a:prstGeom prst="roundRect">
            <a:avLst>
              <a:gd name="adj" fmla="val 6908"/>
            </a:avLst>
          </a:prstGeom>
          <a:solidFill>
            <a:srgbClr val="F7F9F8"/>
          </a:solidFill>
          <a:ln w="9525">
            <a:solidFill>
              <a:srgbClr val="E5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7998" y="2530375"/>
            <a:ext cx="11175971" cy="455017"/>
          </a:xfrm>
          <a:prstGeom prst="rect">
            <a:avLst/>
          </a:prstGeom>
          <a:solidFill>
            <a:srgbClr val="00A758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41988" y="6596955"/>
            <a:ext cx="9525" cy="71239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g_44206849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98" y="6467276"/>
            <a:ext cx="189408" cy="2192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7998" y="508000"/>
            <a:ext cx="617435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23" b="1" i="0">
                <a:solidFill>
                  <a:srgbClr val="00A758"/>
                </a:solidFill>
                <a:latin typeface="Manrope"/>
                <a:ea typeface="Manrope"/>
                <a:cs typeface="Manrope"/>
              </a:rPr>
              <a:t>01 / 核心数据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998" y="681930"/>
            <a:ext cx="2248397" cy="428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1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2025 年度经营亮点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548" y="1414660"/>
            <a:ext cx="3476925" cy="6050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79" b="1" i="0">
                <a:solidFill>
                  <a:srgbClr val="00A758"/>
                </a:solidFill>
                <a:latin typeface="Manrope"/>
                <a:ea typeface="Manrope"/>
                <a:cs typeface="Manrope"/>
              </a:rPr>
              <a:t>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6412" y="1624210"/>
            <a:ext cx="2867126" cy="2779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95" b="1" i="0">
                <a:solidFill>
                  <a:srgbClr val="00A758"/>
                </a:solidFill>
                <a:latin typeface="Manrope"/>
                <a:ea typeface="Manrope"/>
                <a:cs typeface="Manrope"/>
              </a:rPr>
              <a:t>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548" y="1874341"/>
            <a:ext cx="3261533" cy="1686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75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新单保费（元）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548" y="2054125"/>
            <a:ext cx="3260517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23" b="0" i="0">
                <a:solidFill>
                  <a:srgbClr val="8A9B90"/>
                </a:solidFill>
                <a:latin typeface="Noto Sans SC"/>
                <a:ea typeface="Noto Sans SC"/>
                <a:cs typeface="Noto Sans SC"/>
              </a:rPr>
              <a:t>同比增长 +12.4%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3825" y="1414660"/>
            <a:ext cx="3476925" cy="6050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79" b="1" i="0">
                <a:solidFill>
                  <a:srgbClr val="1E3A5F"/>
                </a:solidFill>
                <a:latin typeface="Manrope"/>
                <a:ea typeface="Manrope"/>
                <a:cs typeface="Manrope"/>
              </a:rPr>
              <a:t>96.8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824" y="1624210"/>
            <a:ext cx="2515992" cy="2779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95" b="1" i="0">
                <a:solidFill>
                  <a:srgbClr val="1E3A5F"/>
                </a:solidFill>
                <a:latin typeface="Manrope"/>
                <a:ea typeface="Manrope"/>
                <a:cs typeface="Manrope"/>
              </a:rPr>
              <a:t>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3825" y="1874341"/>
            <a:ext cx="3261533" cy="1686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75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客户满意度得分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3825" y="2054125"/>
            <a:ext cx="3260517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23" b="0" i="0">
                <a:solidFill>
                  <a:srgbClr val="8A9B90"/>
                </a:solidFill>
                <a:latin typeface="Noto Sans SC"/>
                <a:ea typeface="Noto Sans SC"/>
                <a:cs typeface="Noto Sans SC"/>
              </a:rPr>
              <a:t>连续三年行业前五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102" y="1414660"/>
            <a:ext cx="3476925" cy="6050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79" b="1" i="0">
                <a:solidFill>
                  <a:srgbClr val="00A758"/>
                </a:solidFill>
                <a:latin typeface="Manrope"/>
                <a:ea typeface="Manrope"/>
                <a:cs typeface="Manrope"/>
              </a:rPr>
              <a:t>48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42935" y="1624210"/>
            <a:ext cx="2863158" cy="27797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95" b="1" i="0">
                <a:solidFill>
                  <a:srgbClr val="00A758"/>
                </a:solidFill>
                <a:latin typeface="Manrope"/>
                <a:ea typeface="Manrope"/>
                <a:cs typeface="Manrope"/>
              </a:rPr>
              <a:t>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0102" y="1874341"/>
            <a:ext cx="3261533" cy="1686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75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理赔平均时效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0102" y="2054125"/>
            <a:ext cx="3260517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23" b="0" i="0">
                <a:solidFill>
                  <a:srgbClr val="8A9B90"/>
                </a:solidFill>
                <a:latin typeface="Noto Sans SC"/>
                <a:ea typeface="Noto Sans SC"/>
                <a:cs typeface="Noto Sans SC"/>
              </a:rPr>
              <a:t>较行业均值快 36%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568" y="2678906"/>
            <a:ext cx="10917224" cy="184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839" b="0" i="0">
                <a:solidFill>
                  <a:srgbClr val="007A3E"/>
                </a:solidFill>
                <a:latin typeface="Noto Sans SC"/>
                <a:ea typeface="Noto Sans SC"/>
                <a:cs typeface="Noto Sans SC"/>
              </a:rPr>
              <a:t>基于宏利金融 150+ 年风险管理专业经验，结合中化集团本土市场资源，中宏实现了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5722" y="2678906"/>
            <a:ext cx="7001070" cy="184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839" b="1" i="0">
                <a:solidFill>
                  <a:srgbClr val="007A3E"/>
                </a:solidFill>
                <a:latin typeface="Noto Sans SC"/>
                <a:ea typeface="Noto Sans SC"/>
                <a:cs typeface="Noto Sans SC"/>
              </a:rPr>
              <a:t>保费规模与服务质量的双重跨越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8365" y="2678906"/>
            <a:ext cx="5508427" cy="184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839" b="0" i="0">
                <a:solidFill>
                  <a:srgbClr val="007A3E"/>
                </a:solidFill>
                <a:latin typeface="Noto Sans SC"/>
                <a:ea typeface="Noto Sans SC"/>
                <a:cs typeface="Noto Sans SC"/>
              </a:rPr>
              <a:t>，夯实长期可持续发展基础。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8206" y="6494363"/>
            <a:ext cx="548637" cy="199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99" b="1" i="0">
                <a:solidFill>
                  <a:srgbClr val="00A758"/>
                </a:solidFill>
                <a:latin typeface="Noto Sans SC"/>
                <a:ea typeface="Noto Sans SC"/>
                <a:cs typeface="Noto Sans SC"/>
              </a:rPr>
              <a:t>中宏保险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02586" y="6578600"/>
            <a:ext cx="177501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23" b="1" i="0">
                <a:solidFill>
                  <a:srgbClr val="0F1A13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86438" y="6578600"/>
            <a:ext cx="173730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23" b="0" i="0">
                <a:solidFill>
                  <a:srgbClr val="8A9B90"/>
                </a:solidFill>
                <a:latin typeface="Manrope"/>
                <a:ea typeface="Manrope"/>
                <a:cs typeface="Manrope"/>
              </a:rPr>
              <a:t>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7998" y="1103510"/>
            <a:ext cx="380999" cy="19050"/>
          </a:xfrm>
          <a:prstGeom prst="roundRect">
            <a:avLst>
              <a:gd name="adj" fmla="val 50000"/>
            </a:avLst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7998" y="1274960"/>
            <a:ext cx="5502657" cy="771723"/>
          </a:xfrm>
          <a:prstGeom prst="roundRect">
            <a:avLst>
              <a:gd name="adj" fmla="val 9874"/>
            </a:avLst>
          </a:prstGeom>
          <a:solidFill>
            <a:srgbClr val="F7F9F8"/>
          </a:solidFill>
          <a:ln w="9525">
            <a:solidFill>
              <a:srgbClr val="E5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97208" y="1464171"/>
            <a:ext cx="279399" cy="279400"/>
          </a:xfrm>
          <a:prstGeom prst="roundRect">
            <a:avLst>
              <a:gd name="adj" fmla="val 18181"/>
            </a:avLst>
          </a:prstGeom>
          <a:solidFill>
            <a:srgbClr val="E6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81312" y="1274960"/>
            <a:ext cx="5502657" cy="771723"/>
          </a:xfrm>
          <a:prstGeom prst="roundRect">
            <a:avLst>
              <a:gd name="adj" fmla="val 9874"/>
            </a:avLst>
          </a:prstGeom>
          <a:solidFill>
            <a:srgbClr val="F7F9F8"/>
          </a:solidFill>
          <a:ln w="9525">
            <a:solidFill>
              <a:srgbClr val="E5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70522" y="1464171"/>
            <a:ext cx="279399" cy="279400"/>
          </a:xfrm>
          <a:prstGeom prst="roundRect">
            <a:avLst>
              <a:gd name="adj" fmla="val 18181"/>
            </a:avLst>
          </a:prstGeom>
          <a:solidFill>
            <a:srgbClr val="E6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7998" y="2217340"/>
            <a:ext cx="5502657" cy="771723"/>
          </a:xfrm>
          <a:prstGeom prst="roundRect">
            <a:avLst>
              <a:gd name="adj" fmla="val 9874"/>
            </a:avLst>
          </a:prstGeom>
          <a:solidFill>
            <a:srgbClr val="F7F9F8"/>
          </a:solidFill>
          <a:ln w="9525">
            <a:solidFill>
              <a:srgbClr val="E5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7208" y="2406550"/>
            <a:ext cx="279399" cy="279400"/>
          </a:xfrm>
          <a:prstGeom prst="roundRect">
            <a:avLst>
              <a:gd name="adj" fmla="val 18181"/>
            </a:avLst>
          </a:prstGeom>
          <a:solidFill>
            <a:srgbClr val="E6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81312" y="2217340"/>
            <a:ext cx="5502657" cy="771723"/>
          </a:xfrm>
          <a:prstGeom prst="roundRect">
            <a:avLst>
              <a:gd name="adj" fmla="val 9874"/>
            </a:avLst>
          </a:prstGeom>
          <a:solidFill>
            <a:srgbClr val="F7F9F8"/>
          </a:solidFill>
          <a:ln w="9525">
            <a:solidFill>
              <a:srgbClr val="E5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70522" y="2406550"/>
            <a:ext cx="279399" cy="279400"/>
          </a:xfrm>
          <a:prstGeom prst="roundRect">
            <a:avLst>
              <a:gd name="adj" fmla="val 18181"/>
            </a:avLst>
          </a:prstGeom>
          <a:solidFill>
            <a:srgbClr val="E6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541988" y="6596955"/>
            <a:ext cx="9525" cy="71239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g_44206849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98" y="6467276"/>
            <a:ext cx="189408" cy="2192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7998" y="508000"/>
            <a:ext cx="629937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23" b="1" i="0">
                <a:solidFill>
                  <a:srgbClr val="00A758"/>
                </a:solidFill>
                <a:latin typeface="Manrope"/>
                <a:ea typeface="Manrope"/>
                <a:cs typeface="Manrope"/>
              </a:rPr>
              <a:t>02 / 产品创新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998" y="681930"/>
            <a:ext cx="2008189" cy="428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1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2025 年新品矩阵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883" y="1499096"/>
            <a:ext cx="326515" cy="245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19" b="0" i="0">
                <a:solidFill>
                  <a:srgbClr val="007A3E"/>
                </a:solidFill>
                <a:latin typeface="Noto Sans SC"/>
                <a:ea typeface="Noto Sans SC"/>
                <a:cs typeface="Noto Sans SC"/>
              </a:rPr>
              <a:t>🛡️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8447" y="1451471"/>
            <a:ext cx="3229632" cy="2837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7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宏创·重疾险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8447" y="1707852"/>
            <a:ext cx="3176800" cy="1686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75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覆盖 120 种重大疾病，新增罕见病特药直付服务，理赔无须等待期审核。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196" y="1499096"/>
            <a:ext cx="326515" cy="245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19" b="0" i="0">
                <a:solidFill>
                  <a:srgbClr val="007A3E"/>
                </a:solidFill>
                <a:latin typeface="Noto Sans SC"/>
                <a:ea typeface="Noto Sans SC"/>
                <a:cs typeface="Noto Sans SC"/>
              </a:rPr>
              <a:t>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71761" y="1451471"/>
            <a:ext cx="3411996" cy="2837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7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惠养·长期护理险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71761" y="1707852"/>
            <a:ext cx="3359164" cy="1686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75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响应人口老龄化趋势，提供 5 级护理认定标准，居家与机构双渠道护理报销。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883" y="2441475"/>
            <a:ext cx="326515" cy="245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19" b="0" i="0">
                <a:solidFill>
                  <a:srgbClr val="007A3E"/>
                </a:solidFill>
                <a:latin typeface="Noto Sans SC"/>
                <a:ea typeface="Noto Sans SC"/>
                <a:cs typeface="Noto Sans SC"/>
              </a:rPr>
              <a:t>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8447" y="2393850"/>
            <a:ext cx="3122476" cy="2837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7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数字化投保平台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8447" y="2650232"/>
            <a:ext cx="3069644" cy="1686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75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全流程线上化，核保最快 2 分钟出单，支持微信、支付宝多渠道缴费。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196" y="2441475"/>
            <a:ext cx="326515" cy="245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19" b="0" i="0">
                <a:solidFill>
                  <a:srgbClr val="007A3E"/>
                </a:solidFill>
                <a:latin typeface="Noto Sans SC"/>
                <a:ea typeface="Noto Sans SC"/>
                <a:cs typeface="Noto Sans SC"/>
              </a:rPr>
              <a:t>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71761" y="2393850"/>
            <a:ext cx="3004605" cy="2837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7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家庭健康管家服务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71761" y="2650232"/>
            <a:ext cx="2951773" cy="1686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75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1 对 1 健康顾问，年度体检绿通预约，联合三甲医院专家转诊协助。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8206" y="6494363"/>
            <a:ext cx="548637" cy="199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99" b="1" i="0">
                <a:solidFill>
                  <a:srgbClr val="00A758"/>
                </a:solidFill>
                <a:latin typeface="Noto Sans SC"/>
                <a:ea typeface="Noto Sans SC"/>
                <a:cs typeface="Noto Sans SC"/>
              </a:rPr>
              <a:t>中宏保险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03578" y="6578600"/>
            <a:ext cx="176508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23" b="1" i="0">
                <a:solidFill>
                  <a:srgbClr val="0F1A13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86438" y="6578600"/>
            <a:ext cx="173730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23" b="0" i="0">
                <a:solidFill>
                  <a:srgbClr val="8A9B90"/>
                </a:solidFill>
                <a:latin typeface="Manrope"/>
                <a:ea typeface="Manrope"/>
                <a:cs typeface="Manrope"/>
              </a:rPr>
              <a:t>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7998" y="1103510"/>
            <a:ext cx="380999" cy="19050"/>
          </a:xfrm>
          <a:prstGeom prst="roundRect">
            <a:avLst>
              <a:gd name="adj" fmla="val 50000"/>
            </a:avLst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7998" y="2274490"/>
            <a:ext cx="11175971" cy="455017"/>
          </a:xfrm>
          <a:prstGeom prst="rect">
            <a:avLst/>
          </a:prstGeom>
          <a:solidFill>
            <a:srgbClr val="00A758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541988" y="6596955"/>
            <a:ext cx="9525" cy="71239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g_44206849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98" y="6467276"/>
            <a:ext cx="189408" cy="2192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7998" y="508000"/>
            <a:ext cx="628746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23" b="1" i="0">
                <a:solidFill>
                  <a:srgbClr val="00A758"/>
                </a:solidFill>
                <a:latin typeface="Manrope"/>
                <a:ea typeface="Manrope"/>
                <a:cs typeface="Manrope"/>
              </a:rPr>
              <a:t>03 / 服务升级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998" y="681930"/>
            <a:ext cx="2356744" cy="428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1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全旅程客户体验提升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998" y="1281310"/>
            <a:ext cx="5538201" cy="1686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5000"/>
              </a:lnSpc>
            </a:pPr>
            <a:r>
              <a:rPr sz="75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售前 · 咨询与规划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298" y="1509117"/>
            <a:ext cx="639577" cy="184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83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AI 需求诊断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5132" y="1509117"/>
            <a:ext cx="4649195" cy="184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83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：3 分钟生成个性化保障方案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298" y="1736129"/>
            <a:ext cx="725103" cy="184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83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专属顾问配对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658" y="1736129"/>
            <a:ext cx="4563669" cy="184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83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：按行业、年龄、家庭结构智能匹配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298" y="1963142"/>
            <a:ext cx="725103" cy="184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83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在线直播讲解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0658" y="1963142"/>
            <a:ext cx="4563669" cy="184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83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：每周主题产说会，全国同步覆盖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2984" y="1281310"/>
            <a:ext cx="5538201" cy="1686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5000"/>
              </a:lnSpc>
            </a:pPr>
            <a:r>
              <a:rPr sz="75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售后 · 理赔与增值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283" y="1509117"/>
            <a:ext cx="831664" cy="184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83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全程无纸化理赔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2204" y="1509117"/>
            <a:ext cx="4457108" cy="184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83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：APP 提交材料，72h 审核完成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283" y="1736129"/>
            <a:ext cx="775308" cy="184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83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国际 SOS 协助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55848" y="1736129"/>
            <a:ext cx="4513464" cy="184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83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：境外就医安排与费用垫付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283" y="1963142"/>
            <a:ext cx="938324" cy="184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83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年度客户健康报告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18864" y="1963142"/>
            <a:ext cx="4350448" cy="184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83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：个性化健康趋势追踪与建议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9568" y="2423021"/>
            <a:ext cx="10917224" cy="184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839" b="0" i="0">
                <a:solidFill>
                  <a:srgbClr val="007A3E"/>
                </a:solidFill>
                <a:latin typeface="Noto Sans SC"/>
                <a:ea typeface="Noto Sans SC"/>
                <a:cs typeface="Noto Sans SC"/>
              </a:rPr>
              <a:t>以"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1592" y="2423021"/>
            <a:ext cx="10755201" cy="184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839" b="1" i="0">
                <a:solidFill>
                  <a:srgbClr val="007A3E"/>
                </a:solidFill>
                <a:latin typeface="Noto Sans SC"/>
                <a:ea typeface="Noto Sans SC"/>
                <a:cs typeface="Noto Sans SC"/>
              </a:rPr>
              <a:t>让保险更简单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91353" y="2423021"/>
            <a:ext cx="10115440" cy="184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839" b="0" i="0">
                <a:solidFill>
                  <a:srgbClr val="007A3E"/>
                </a:solidFill>
                <a:latin typeface="Noto Sans SC"/>
                <a:ea typeface="Noto Sans SC"/>
                <a:cs typeface="Noto Sans SC"/>
              </a:rPr>
              <a:t>"为核心理念，中宏 2025 年持续投入数字化基础设施建设，服务触点覆盖微信、APP、400 热线、线下网点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506" y="2423021"/>
            <a:ext cx="5069286" cy="184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839" b="1" i="0">
                <a:solidFill>
                  <a:srgbClr val="007A3E"/>
                </a:solidFill>
                <a:latin typeface="Noto Sans SC"/>
                <a:ea typeface="Noto Sans SC"/>
                <a:cs typeface="Noto Sans SC"/>
              </a:rPr>
              <a:t>四大渠道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4047" y="2423021"/>
            <a:ext cx="4642746" cy="184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839" b="0" i="0">
                <a:solidFill>
                  <a:srgbClr val="007A3E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8206" y="6494363"/>
            <a:ext cx="548637" cy="199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99" b="1" i="0">
                <a:solidFill>
                  <a:srgbClr val="00A758"/>
                </a:solidFill>
                <a:latin typeface="Noto Sans SC"/>
                <a:ea typeface="Noto Sans SC"/>
                <a:cs typeface="Noto Sans SC"/>
              </a:rPr>
              <a:t>中宏保险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01693" y="6578600"/>
            <a:ext cx="178394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23" b="1" i="0">
                <a:solidFill>
                  <a:srgbClr val="0F1A13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86438" y="6578600"/>
            <a:ext cx="173730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23" b="0" i="0">
                <a:solidFill>
                  <a:srgbClr val="8A9B90"/>
                </a:solidFill>
                <a:latin typeface="Manrope"/>
                <a:ea typeface="Manrope"/>
                <a:cs typeface="Manrope"/>
              </a:rPr>
              <a:t>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7998" y="1103510"/>
            <a:ext cx="380999" cy="19050"/>
          </a:xfrm>
          <a:prstGeom prst="roundRect">
            <a:avLst>
              <a:gd name="adj" fmla="val 50000"/>
            </a:avLst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7998" y="1274960"/>
            <a:ext cx="3611553" cy="1278731"/>
          </a:xfrm>
          <a:prstGeom prst="roundRect">
            <a:avLst>
              <a:gd name="adj" fmla="val 5959"/>
            </a:avLst>
          </a:prstGeom>
          <a:solidFill>
            <a:srgbClr val="F7F9F8"/>
          </a:solidFill>
          <a:ln w="9525">
            <a:solidFill>
              <a:srgbClr val="E5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97208" y="1464171"/>
            <a:ext cx="279399" cy="279400"/>
          </a:xfrm>
          <a:prstGeom prst="roundRect">
            <a:avLst>
              <a:gd name="adj" fmla="val 18181"/>
            </a:avLst>
          </a:prstGeom>
          <a:solidFill>
            <a:srgbClr val="E6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290207" y="1274960"/>
            <a:ext cx="3611553" cy="1278731"/>
          </a:xfrm>
          <a:prstGeom prst="roundRect">
            <a:avLst>
              <a:gd name="adj" fmla="val 5959"/>
            </a:avLst>
          </a:prstGeom>
          <a:solidFill>
            <a:srgbClr val="F7F9F8"/>
          </a:solidFill>
          <a:ln w="9525">
            <a:solidFill>
              <a:srgbClr val="E5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79417" y="1464171"/>
            <a:ext cx="279399" cy="279400"/>
          </a:xfrm>
          <a:prstGeom prst="roundRect">
            <a:avLst>
              <a:gd name="adj" fmla="val 18181"/>
            </a:avLst>
          </a:prstGeom>
          <a:solidFill>
            <a:srgbClr val="E6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72416" y="1274960"/>
            <a:ext cx="3611553" cy="1278731"/>
          </a:xfrm>
          <a:prstGeom prst="roundRect">
            <a:avLst>
              <a:gd name="adj" fmla="val 5959"/>
            </a:avLst>
          </a:prstGeom>
          <a:solidFill>
            <a:srgbClr val="F7F9F8"/>
          </a:solidFill>
          <a:ln w="9525">
            <a:solidFill>
              <a:srgbClr val="E5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61626" y="1464171"/>
            <a:ext cx="279399" cy="279400"/>
          </a:xfrm>
          <a:prstGeom prst="roundRect">
            <a:avLst>
              <a:gd name="adj" fmla="val 18181"/>
            </a:avLst>
          </a:prstGeom>
          <a:solidFill>
            <a:srgbClr val="E6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7998" y="2706092"/>
            <a:ext cx="594418" cy="145851"/>
          </a:xfrm>
          <a:prstGeom prst="roundRect">
            <a:avLst>
              <a:gd name="adj" fmla="val 50000"/>
            </a:avLst>
          </a:prstGeom>
          <a:solidFill>
            <a:srgbClr val="E6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224257" y="2706092"/>
            <a:ext cx="594418" cy="145851"/>
          </a:xfrm>
          <a:prstGeom prst="roundRect">
            <a:avLst>
              <a:gd name="adj" fmla="val 50000"/>
            </a:avLst>
          </a:prstGeom>
          <a:solidFill>
            <a:srgbClr val="E6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940515" y="2706092"/>
            <a:ext cx="515142" cy="145851"/>
          </a:xfrm>
          <a:prstGeom prst="roundRect">
            <a:avLst>
              <a:gd name="adj" fmla="val 50000"/>
            </a:avLst>
          </a:prstGeom>
          <a:solidFill>
            <a:srgbClr val="E6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77498" y="2706092"/>
            <a:ext cx="515142" cy="145851"/>
          </a:xfrm>
          <a:prstGeom prst="roundRect">
            <a:avLst>
              <a:gd name="adj" fmla="val 50000"/>
            </a:avLst>
          </a:prstGeom>
          <a:solidFill>
            <a:srgbClr val="E6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541988" y="6596955"/>
            <a:ext cx="9525" cy="71239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g_44206849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98" y="6467276"/>
            <a:ext cx="189408" cy="21927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7998" y="508000"/>
            <a:ext cx="630929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23" b="1" i="0">
                <a:solidFill>
                  <a:srgbClr val="00A758"/>
                </a:solidFill>
                <a:latin typeface="Manrope"/>
                <a:ea typeface="Manrope"/>
                <a:cs typeface="Manrope"/>
              </a:rPr>
              <a:t>04 / 战略展望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998" y="681930"/>
            <a:ext cx="2488605" cy="428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1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2026 年三大战略方向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833" y="1470521"/>
            <a:ext cx="378077" cy="3152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39" b="0" i="0">
                <a:solidFill>
                  <a:srgbClr val="007A3E"/>
                </a:solidFill>
                <a:latin typeface="Noto Sans SC"/>
                <a:ea typeface="Noto Sans SC"/>
                <a:cs typeface="Noto Sans SC"/>
              </a:rPr>
              <a:t>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7208" y="1792585"/>
            <a:ext cx="3363180" cy="2837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79" b="1" i="0">
                <a:solidFill>
                  <a:srgbClr val="00A758"/>
                </a:solidFill>
                <a:latin typeface="Noto Sans SC"/>
                <a:ea typeface="Noto Sans SC"/>
                <a:cs typeface="Noto Sans SC"/>
              </a:rPr>
              <a:t>规模深耕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208" y="2065238"/>
            <a:ext cx="3310348" cy="1686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75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聚焦长三角、大湾区等核心城市群，新增保险顾问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42312" y="2065238"/>
            <a:ext cx="1165245" cy="1686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75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3,000+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7208" y="2065238"/>
            <a:ext cx="3310348" cy="3472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75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名，扩大高净值客群覆盖。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7042" y="1470521"/>
            <a:ext cx="378077" cy="3152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39" b="0" i="0">
                <a:solidFill>
                  <a:srgbClr val="007A3E"/>
                </a:solidFill>
                <a:latin typeface="Noto Sans SC"/>
                <a:ea typeface="Noto Sans SC"/>
                <a:cs typeface="Noto Sans SC"/>
              </a:rPr>
              <a:t>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9417" y="1792585"/>
            <a:ext cx="3094596" cy="2837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79" b="1" i="0">
                <a:solidFill>
                  <a:srgbClr val="1E3A5F"/>
                </a:solidFill>
                <a:latin typeface="Noto Sans SC"/>
                <a:ea typeface="Noto Sans SC"/>
                <a:cs typeface="Noto Sans SC"/>
              </a:rPr>
              <a:t>科技赋能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9417" y="2065238"/>
            <a:ext cx="3041764" cy="1686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75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推进 AI 核保、智能客服和数据中台建设，目标将运营成本降低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40656" y="2065238"/>
            <a:ext cx="380525" cy="1686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75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20%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47427" y="2065238"/>
            <a:ext cx="173754" cy="1686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75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09251" y="1470521"/>
            <a:ext cx="378077" cy="3152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39" b="0" i="0">
                <a:solidFill>
                  <a:srgbClr val="007A3E"/>
                </a:solidFill>
                <a:latin typeface="Noto Sans SC"/>
                <a:ea typeface="Noto Sans SC"/>
                <a:cs typeface="Noto Sans SC"/>
              </a:rPr>
              <a:t>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1626" y="1792585"/>
            <a:ext cx="3122278" cy="2837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79" b="1" i="0">
                <a:solidFill>
                  <a:srgbClr val="00A758"/>
                </a:solidFill>
                <a:latin typeface="Noto Sans SC"/>
                <a:ea typeface="Noto Sans SC"/>
                <a:cs typeface="Noto Sans SC"/>
              </a:rPr>
              <a:t>生态构建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1626" y="2065238"/>
            <a:ext cx="3069446" cy="1686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75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打通健康管理、养老社区和财富规划的产品服务链条，形成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71160" y="2065238"/>
            <a:ext cx="559912" cy="1686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759" b="1" i="0">
                <a:solidFill>
                  <a:srgbClr val="0F1A13"/>
                </a:solidFill>
                <a:latin typeface="Noto Sans SC"/>
                <a:ea typeface="Noto Sans SC"/>
                <a:cs typeface="Noto Sans SC"/>
              </a:rPr>
              <a:t>闭环生态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7318" y="2065238"/>
            <a:ext cx="173754" cy="16865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759" b="0" i="0">
                <a:solidFill>
                  <a:srgbClr val="5A6B60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7430" y="2721867"/>
            <a:ext cx="611185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23" b="1" i="0">
                <a:solidFill>
                  <a:srgbClr val="007A3E"/>
                </a:solidFill>
                <a:latin typeface="Noto Sans SC"/>
                <a:ea typeface="Noto Sans SC"/>
                <a:cs typeface="Noto Sans SC"/>
              </a:rPr>
              <a:t>监管合规优先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3688" y="2721867"/>
            <a:ext cx="611185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23" b="1" i="0">
                <a:solidFill>
                  <a:srgbClr val="007A3E"/>
                </a:solidFill>
                <a:latin typeface="Noto Sans SC"/>
                <a:ea typeface="Noto Sans SC"/>
                <a:cs typeface="Noto Sans SC"/>
              </a:rPr>
              <a:t>客户价值导向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99947" y="2721867"/>
            <a:ext cx="531909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23" b="1" i="0">
                <a:solidFill>
                  <a:srgbClr val="007A3E"/>
                </a:solidFill>
                <a:latin typeface="Noto Sans SC"/>
                <a:ea typeface="Noto Sans SC"/>
                <a:cs typeface="Noto Sans SC"/>
              </a:rPr>
              <a:t>可持续发展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36930" y="2721867"/>
            <a:ext cx="531909" cy="139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23" b="1" i="0">
                <a:solidFill>
                  <a:srgbClr val="007A3E"/>
                </a:solidFill>
                <a:latin typeface="Noto Sans SC"/>
                <a:ea typeface="Noto Sans SC"/>
                <a:cs typeface="Noto Sans SC"/>
              </a:rPr>
              <a:t>数字化转型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8206" y="6494363"/>
            <a:ext cx="548637" cy="199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99" b="1" i="0">
                <a:solidFill>
                  <a:srgbClr val="00A758"/>
                </a:solidFill>
                <a:latin typeface="Noto Sans SC"/>
                <a:ea typeface="Noto Sans SC"/>
                <a:cs typeface="Noto Sans SC"/>
              </a:rPr>
              <a:t>中宏保险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03777" y="6578600"/>
            <a:ext cx="176310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23" b="1" i="0">
                <a:solidFill>
                  <a:srgbClr val="0F1A13"/>
                </a:solidFill>
                <a:latin typeface="Manrope"/>
                <a:ea typeface="Manrope"/>
                <a:cs typeface="Manrope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586438" y="6578600"/>
            <a:ext cx="173730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23" b="0" i="0">
                <a:solidFill>
                  <a:srgbClr val="8A9B90"/>
                </a:solidFill>
                <a:latin typeface="Manrope"/>
                <a:ea typeface="Manrope"/>
                <a:cs typeface="Manrope"/>
              </a:rPr>
              <a:t>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7998" y="508000"/>
            <a:ext cx="11175971" cy="5464869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905484" y="2815927"/>
            <a:ext cx="380999" cy="19050"/>
          </a:xfrm>
          <a:prstGeom prst="roundRect">
            <a:avLst>
              <a:gd name="adj" fmla="val 50000"/>
            </a:avLst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541988" y="6596955"/>
            <a:ext cx="9525" cy="71239"/>
          </a:xfrm>
          <a:prstGeom prst="rect">
            <a:avLst/>
          </a:prstGeom>
          <a:solidFill>
            <a:srgbClr val="00A7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g_44206849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98" y="6467276"/>
            <a:ext cx="189408" cy="21927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82702" y="2190154"/>
            <a:ext cx="1719071" cy="643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8000"/>
              </a:lnSpc>
            </a:pPr>
            <a:r>
              <a:rPr sz="2879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感谢聆听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89722" y="3067050"/>
            <a:ext cx="1897866" cy="184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70000"/>
              </a:lnSpc>
            </a:pPr>
            <a:r>
              <a:rPr sz="839" b="0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如需进一步了解产品详情或合作机会，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96283" y="3248322"/>
            <a:ext cx="1791305" cy="1844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70000"/>
              </a:lnSpc>
            </a:pPr>
            <a:r>
              <a:rPr sz="839" b="0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欢迎随时联系您的专属客户顾问。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21138" y="3601045"/>
            <a:ext cx="2479739" cy="28371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65000"/>
              </a:lnSpc>
            </a:pPr>
            <a:r>
              <a:rPr sz="1279" b="1" i="0">
                <a:solidFill>
                  <a:srgbClr val="00A758"/>
                </a:solidFill>
                <a:latin typeface="Noto Sans SC"/>
                <a:ea typeface="Noto Sans SC"/>
                <a:cs typeface="Noto Sans SC"/>
              </a:rPr>
              <a:t>中宏保险 — 专业守护，长久相伴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8206" y="6494363"/>
            <a:ext cx="548637" cy="19938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99" b="1" i="0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中宏保险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01098" y="6578600"/>
            <a:ext cx="178989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23" b="1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86438" y="6578600"/>
            <a:ext cx="173730" cy="13334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23" b="0" i="0">
                <a:solidFill>
                  <a:srgbClr val="FFFFFF"/>
                </a:solidFill>
                <a:latin typeface="Manrope"/>
                <a:ea typeface="Manrope"/>
                <a:cs typeface="Manrope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