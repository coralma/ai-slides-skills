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41985" y="4077196"/>
            <a:ext cx="507998" cy="19050"/>
          </a:xfrm>
          <a:prstGeom prst="roundRect">
            <a:avLst>
              <a:gd name="adj" fmla="val 50000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_48482657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98" y="6177458"/>
            <a:ext cx="236834" cy="2741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02595" y="2441674"/>
            <a:ext cx="701077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99" b="0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专业对比分析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99843" y="2642294"/>
            <a:ext cx="1906581" cy="692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59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6871" y="3190875"/>
            <a:ext cx="2472524" cy="692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5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vs 友邦保险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8736" y="4239716"/>
            <a:ext cx="1828794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60000"/>
              </a:lnSpc>
            </a:pPr>
            <a:r>
              <a:rPr sz="8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为什么中宏保险是您更明智的选择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033" y="6216054"/>
            <a:ext cx="662977" cy="222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7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06398" y="2960092"/>
            <a:ext cx="406398" cy="19050"/>
          </a:xfrm>
          <a:prstGeom prst="roundRect">
            <a:avLst>
              <a:gd name="adj" fmla="val 50000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6323" y="3116262"/>
            <a:ext cx="5613385" cy="1343124"/>
          </a:xfrm>
          <a:prstGeom prst="roundRect">
            <a:avLst>
              <a:gd name="adj" fmla="val 5673"/>
            </a:avLst>
          </a:prstGeom>
          <a:solidFill>
            <a:srgbClr val="00A758"/>
          </a:solidFill>
          <a:ln w="9525">
            <a:solidFill>
              <a:srgbClr val="00A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5073" y="3275012"/>
            <a:ext cx="228599" cy="130770"/>
          </a:xfrm>
          <a:prstGeom prst="roundRect">
            <a:avLst>
              <a:gd name="adj" fmla="val 19423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72108" y="3116262"/>
            <a:ext cx="5613385" cy="1343124"/>
          </a:xfrm>
          <a:prstGeom prst="roundRect">
            <a:avLst>
              <a:gd name="adj" fmla="val 5673"/>
            </a:avLst>
          </a:prstGeom>
          <a:solidFill>
            <a:srgbClr val="F7F9F8"/>
          </a:solidFill>
          <a:ln w="9525">
            <a:solidFill>
              <a:srgbClr val="E5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30858" y="3275012"/>
            <a:ext cx="228599" cy="130770"/>
          </a:xfrm>
          <a:prstGeom prst="roundRect">
            <a:avLst>
              <a:gd name="adj" fmla="val 19423"/>
            </a:avLst>
          </a:prstGeom>
          <a:solidFill>
            <a:srgbClr val="8A9B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52220" y="6359525"/>
            <a:ext cx="9525" cy="76200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g_48482657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98" y="6177458"/>
            <a:ext cx="236834" cy="27414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6398" y="2398613"/>
            <a:ext cx="621007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01 / 公司背景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398" y="2542282"/>
            <a:ext cx="2377472" cy="393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公司背景与股东结构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173" y="3286422"/>
            <a:ext cx="266698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中宏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4472" y="3276897"/>
            <a:ext cx="133696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中宏保险 Manulife-Sinochem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913" y="3508573"/>
            <a:ext cx="40123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成立于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53" y="3514923"/>
            <a:ext cx="320574" cy="146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1996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0128" y="3508573"/>
            <a:ext cx="49013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年，中国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5968" y="3508573"/>
            <a:ext cx="29209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首家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3767" y="3508573"/>
            <a:ext cx="825497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中外合资寿险公司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913" y="3716734"/>
            <a:ext cx="825497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加拿大宏利金融（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8111" y="3723084"/>
            <a:ext cx="317696" cy="146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150+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1509" y="3716734"/>
            <a:ext cx="469897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年历史）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6913" y="3924895"/>
            <a:ext cx="1427257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中国中化集团（世界500强央企）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913" y="4133056"/>
            <a:ext cx="38099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总部：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3612" y="4133056"/>
            <a:ext cx="29209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上海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958" y="3286422"/>
            <a:ext cx="266698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友邦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10257" y="3276897"/>
            <a:ext cx="63341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友邦保险 AIA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698" y="3508573"/>
            <a:ext cx="175388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1919年创立于上海，1992年重返中国内地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698" y="3716734"/>
            <a:ext cx="140413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AIA集团（外商独资，香港上市）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698" y="3924895"/>
            <a:ext cx="12699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单一外资股东，泛亚集团架构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2698" y="4133056"/>
            <a:ext cx="380997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总部：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19397" y="4133056"/>
            <a:ext cx="29209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香港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15398" y="6343650"/>
            <a:ext cx="200321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F1A13"/>
                </a:solidFill>
                <a:latin typeface="Manrope"/>
                <a:ea typeface="Manrope"/>
                <a:cs typeface="Manrope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9370" y="6343650"/>
            <a:ext cx="190498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0" i="0">
                <a:solidFill>
                  <a:srgbClr val="8A9B90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033" y="6216054"/>
            <a:ext cx="662977" cy="222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7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06398" y="2949773"/>
            <a:ext cx="406398" cy="19050"/>
          </a:xfrm>
          <a:prstGeom prst="roundRect">
            <a:avLst>
              <a:gd name="adj" fmla="val 50000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6281" y="3243064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46667" y="3243064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6398" y="3837285"/>
            <a:ext cx="11379171" cy="632321"/>
          </a:xfrm>
          <a:prstGeom prst="roundRect">
            <a:avLst>
              <a:gd name="adj" fmla="val 12050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652220" y="6359525"/>
            <a:ext cx="9525" cy="76200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vg_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481" y="3319264"/>
            <a:ext cx="152399" cy="152400"/>
          </a:xfrm>
          <a:prstGeom prst="rect">
            <a:avLst/>
          </a:prstGeom>
        </p:spPr>
      </p:pic>
      <p:pic>
        <p:nvPicPr>
          <p:cNvPr id="8" name="Picture 7" descr="svg_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867" y="3319264"/>
            <a:ext cx="152399" cy="152400"/>
          </a:xfrm>
          <a:prstGeom prst="rect">
            <a:avLst/>
          </a:prstGeom>
        </p:spPr>
      </p:pic>
      <p:pic>
        <p:nvPicPr>
          <p:cNvPr id="9" name="Picture 8" descr="img_48482657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398" y="6177458"/>
            <a:ext cx="236834" cy="2741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6398" y="2388294"/>
            <a:ext cx="633013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02 / 核心优势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398" y="2531963"/>
            <a:ext cx="2377472" cy="393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中外合资，更懂中国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680" y="3230364"/>
            <a:ext cx="825497" cy="279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宏利金融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680" y="3500735"/>
            <a:ext cx="118109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全球领先的保险专业经验，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9478" y="3507085"/>
            <a:ext cx="317696" cy="146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150+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2876" y="3500735"/>
            <a:ext cx="126999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年历史，超万亿加元管理资产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066" y="3230364"/>
            <a:ext cx="825497" cy="279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中化集团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66" y="3500735"/>
            <a:ext cx="1951527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世界500强央企，深刻理解中国市场和政策环境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848" y="3989685"/>
            <a:ext cx="1254021" cy="184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79" b="1" i="0">
                <a:solidFill>
                  <a:srgbClr val="007A3E"/>
                </a:solidFill>
                <a:latin typeface="Noto Sans SC"/>
                <a:ea typeface="Noto Sans SC"/>
                <a:cs typeface="Noto Sans SC"/>
              </a:rPr>
              <a:t>"外资专业 + 本土资源"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7571" y="3989685"/>
            <a:ext cx="3045213" cy="184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79" b="0" i="0">
                <a:solidFill>
                  <a:srgbClr val="007A3E"/>
                </a:solidFill>
                <a:latin typeface="Noto Sans SC"/>
                <a:ea typeface="Noto Sans SC"/>
                <a:cs typeface="Noto Sans SC"/>
              </a:rPr>
              <a:t>的组合，使产品设计和服务更贴近中国消费者的实际需求。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848" y="4183856"/>
            <a:ext cx="340359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8A9B90"/>
                </a:solidFill>
                <a:latin typeface="Noto Sans SC"/>
                <a:ea typeface="Noto Sans SC"/>
                <a:cs typeface="Noto Sans SC"/>
              </a:rPr>
              <a:t>相比之下，友邦为外商独资，决策链更多依赖香港总部，本土化响应不如中宏灵活。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3987" y="6343650"/>
            <a:ext cx="211731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F1A13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9370" y="6343650"/>
            <a:ext cx="190498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0" i="0">
                <a:solidFill>
                  <a:srgbClr val="8A9B90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33" y="6216054"/>
            <a:ext cx="662977" cy="222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7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06398" y="2793801"/>
            <a:ext cx="406398" cy="19050"/>
          </a:xfrm>
          <a:prstGeom prst="roundRect">
            <a:avLst>
              <a:gd name="adj" fmla="val 50000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6322" y="2949971"/>
            <a:ext cx="5613385" cy="1343124"/>
          </a:xfrm>
          <a:prstGeom prst="roundRect">
            <a:avLst>
              <a:gd name="adj" fmla="val 5673"/>
            </a:avLst>
          </a:prstGeom>
          <a:solidFill>
            <a:srgbClr val="00A758"/>
          </a:solidFill>
          <a:ln w="9525">
            <a:solidFill>
              <a:srgbClr val="00A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5072" y="3108721"/>
            <a:ext cx="228599" cy="130770"/>
          </a:xfrm>
          <a:prstGeom prst="roundRect">
            <a:avLst>
              <a:gd name="adj" fmla="val 19423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72107" y="2949971"/>
            <a:ext cx="5613386" cy="1343124"/>
          </a:xfrm>
          <a:prstGeom prst="roundRect">
            <a:avLst>
              <a:gd name="adj" fmla="val 5673"/>
            </a:avLst>
          </a:prstGeom>
          <a:solidFill>
            <a:srgbClr val="F7F9F8"/>
          </a:solidFill>
          <a:ln w="9525">
            <a:solidFill>
              <a:srgbClr val="E5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30857" y="3108721"/>
            <a:ext cx="228599" cy="130770"/>
          </a:xfrm>
          <a:prstGeom prst="roundRect">
            <a:avLst>
              <a:gd name="adj" fmla="val 19423"/>
            </a:avLst>
          </a:prstGeom>
          <a:solidFill>
            <a:srgbClr val="8A9B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6398" y="4430216"/>
            <a:ext cx="2336794" cy="195460"/>
          </a:xfrm>
          <a:prstGeom prst="roundRect">
            <a:avLst>
              <a:gd name="adj" fmla="val 50000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652220" y="6359525"/>
            <a:ext cx="9525" cy="76200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g_48482657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98" y="6177458"/>
            <a:ext cx="236834" cy="2741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6398" y="2232322"/>
            <a:ext cx="631921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03 / 市场定位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398" y="2375991"/>
            <a:ext cx="2628991" cy="393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市场定位与差异化策略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172" y="3120132"/>
            <a:ext cx="266698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中宏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4471" y="3110607"/>
            <a:ext cx="46989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912" y="3342282"/>
            <a:ext cx="558797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核心战略：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1411" y="3342282"/>
            <a:ext cx="80267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"健康管理+保险"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9789" y="3342282"/>
            <a:ext cx="46989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深度融合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912" y="3550443"/>
            <a:ext cx="29209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行业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712" y="3550443"/>
            <a:ext cx="29209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首创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511" y="3550443"/>
            <a:ext cx="647697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健康管理体系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912" y="3758604"/>
            <a:ext cx="16255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品牌调性：温暖、陪伴、健康生活方式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6912" y="3966765"/>
            <a:ext cx="171449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目标客群：中产家庭、注重健康管理人群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8957" y="3120132"/>
            <a:ext cx="266699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友邦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0257" y="3110607"/>
            <a:ext cx="46989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友邦保险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2697" y="3342282"/>
            <a:ext cx="1710427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核心战略："卓越营销员"制度 + 高端客群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2697" y="3550443"/>
            <a:ext cx="135889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增值服务作为配套，非战略核心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697" y="3758604"/>
            <a:ext cx="135889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品牌调性：高端、精英、国际化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697" y="3966765"/>
            <a:ext cx="14477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目标客群：高净值人群、企业高管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998" y="4464446"/>
            <a:ext cx="224789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99" b="0" i="0">
                <a:solidFill>
                  <a:srgbClr val="007A3E"/>
                </a:solidFill>
                <a:latin typeface="Times"/>
                <a:ea typeface="Times"/>
                <a:cs typeface="Times"/>
              </a:rPr>
              <a:t>中宏将健康管理嵌入公司战略核心，而非简单增值配套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04980" y="6343650"/>
            <a:ext cx="210739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F1A13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9370" y="6343650"/>
            <a:ext cx="190498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0" i="0">
                <a:solidFill>
                  <a:srgbClr val="8A9B90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033" y="6216054"/>
            <a:ext cx="662977" cy="222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7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06398" y="3054548"/>
            <a:ext cx="406398" cy="19050"/>
          </a:xfrm>
          <a:prstGeom prst="roundRect">
            <a:avLst>
              <a:gd name="adj" fmla="val 50000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6281" y="3347839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33139" y="3347839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60096" y="3347839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652220" y="6359525"/>
            <a:ext cx="9525" cy="76200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vg_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481" y="3424039"/>
            <a:ext cx="152399" cy="152400"/>
          </a:xfrm>
          <a:prstGeom prst="rect">
            <a:avLst/>
          </a:prstGeom>
        </p:spPr>
      </p:pic>
      <p:pic>
        <p:nvPicPr>
          <p:cNvPr id="8" name="Picture 7" descr="svg_4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9339" y="3424039"/>
            <a:ext cx="152399" cy="152400"/>
          </a:xfrm>
          <a:prstGeom prst="rect">
            <a:avLst/>
          </a:prstGeom>
        </p:spPr>
      </p:pic>
      <p:pic>
        <p:nvPicPr>
          <p:cNvPr id="9" name="Picture 8" descr="svg_4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6295" y="3424039"/>
            <a:ext cx="152399" cy="152400"/>
          </a:xfrm>
          <a:prstGeom prst="rect">
            <a:avLst/>
          </a:prstGeom>
        </p:spPr>
      </p:pic>
      <p:pic>
        <p:nvPicPr>
          <p:cNvPr id="10" name="Picture 9" descr="img_48482657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398" y="6177458"/>
            <a:ext cx="236834" cy="2741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6398" y="2493069"/>
            <a:ext cx="634005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04 / 健康管理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398" y="2636738"/>
            <a:ext cx="3790046" cy="393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行业标杆 —— "保险 + 健康管理"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680" y="3335139"/>
            <a:ext cx="1015302" cy="279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MOVE 计划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680" y="3605510"/>
            <a:ext cx="15366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鼓励客户通过运动获得保险奖励，将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5077" y="3605510"/>
            <a:ext cx="57249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"被动理赔"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3268" y="3605510"/>
            <a:ext cx="38099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转变为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9967" y="3605510"/>
            <a:ext cx="57249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"主动健康"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9538" y="3335139"/>
            <a:ext cx="825497" cy="279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健康管家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9538" y="3605510"/>
            <a:ext cx="13588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健康评估、就医协助、慢病管理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4135" y="3605510"/>
            <a:ext cx="38099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全流程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0834" y="3605510"/>
            <a:ext cx="29209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服务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6495" y="3335139"/>
            <a:ext cx="1003296" cy="279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互动式保单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6495" y="3605510"/>
            <a:ext cx="736597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客户健康行为与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8793" y="3605510"/>
            <a:ext cx="46989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保单利益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4392" y="3605510"/>
            <a:ext cx="46989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直接挂钩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39915" y="3891260"/>
            <a:ext cx="2026437" cy="3746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领先行业近 10 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3637" y="4229000"/>
            <a:ext cx="215899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60000"/>
              </a:lnSpc>
            </a:pPr>
            <a:r>
              <a:rPr sz="699" b="0" i="0">
                <a:solidFill>
                  <a:srgbClr val="8A9B90"/>
                </a:solidFill>
                <a:latin typeface="Noto Sans SC"/>
                <a:ea typeface="Noto Sans SC"/>
                <a:cs typeface="Noto Sans SC"/>
              </a:rPr>
              <a:t>中宏是国内最早将健康管理作为核心战略的保险公司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03194" y="6343650"/>
            <a:ext cx="212525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F1A13"/>
                </a:solidFill>
                <a:latin typeface="Manrope"/>
                <a:ea typeface="Manrope"/>
                <a:cs typeface="Manrope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9370" y="6343650"/>
            <a:ext cx="190498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0" i="0">
                <a:solidFill>
                  <a:srgbClr val="8A9B90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033" y="6216054"/>
            <a:ext cx="662977" cy="222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7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06398" y="2766714"/>
            <a:ext cx="406398" cy="19050"/>
          </a:xfrm>
          <a:prstGeom prst="roundRect">
            <a:avLst>
              <a:gd name="adj" fmla="val 50000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6398" y="2940744"/>
            <a:ext cx="380999" cy="123031"/>
          </a:xfrm>
          <a:prstGeom prst="roundRect">
            <a:avLst>
              <a:gd name="adj" fmla="val 20645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97584" y="2940744"/>
            <a:ext cx="380999" cy="123031"/>
          </a:xfrm>
          <a:prstGeom prst="roundRect">
            <a:avLst>
              <a:gd name="adj" fmla="val 20645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652220" y="6359525"/>
            <a:ext cx="9525" cy="76200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48482657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98" y="6177458"/>
            <a:ext cx="236834" cy="2741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6398" y="2205235"/>
            <a:ext cx="632318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05 / 产品特色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398" y="2348904"/>
            <a:ext cx="3131831" cy="393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产品灵活定制，性价比更高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98" y="2948285"/>
            <a:ext cx="419098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07A3E"/>
                </a:solidFill>
                <a:latin typeface="Times"/>
                <a:ea typeface="Times"/>
                <a:cs typeface="Times"/>
              </a:rPr>
              <a:t>中宏优势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398" y="3226494"/>
            <a:ext cx="196948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239" y="3226494"/>
            <a:ext cx="685797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灵活定制化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9737" y="3226494"/>
            <a:ext cx="1194093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— 保障组合自由搭配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398" y="3525242"/>
            <a:ext cx="196948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8239" y="3525242"/>
            <a:ext cx="58905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"多倍保"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2999" y="3525242"/>
            <a:ext cx="1536993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系列重疾险 — 多种可选责任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398" y="3823989"/>
            <a:ext cx="196948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8239" y="3823989"/>
            <a:ext cx="58905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"健无忧"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2999" y="3823989"/>
            <a:ext cx="1536993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系列 — 健康管理内嵌到产品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398" y="4122737"/>
            <a:ext cx="196948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239" y="4122737"/>
            <a:ext cx="1879892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养老规划丰富 — 依托宏利全球经验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398" y="4421485"/>
            <a:ext cx="196948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239" y="4421485"/>
            <a:ext cx="1651292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数字化体验佳 — 全流程线上化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5684" y="2948285"/>
            <a:ext cx="419098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1E3A5F"/>
                </a:solidFill>
                <a:latin typeface="Times"/>
                <a:ea typeface="Times"/>
                <a:cs typeface="Times"/>
              </a:rPr>
              <a:t>友邦特点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7584" y="3226494"/>
            <a:ext cx="228598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0" i="0">
                <a:solidFill>
                  <a:srgbClr val="8A9B90"/>
                </a:solidFill>
                <a:latin typeface="Noto Sans SC"/>
                <a:ea typeface="Noto Sans SC"/>
                <a:cs typeface="Noto Sans S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9424" y="3226494"/>
            <a:ext cx="1600195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0" i="0">
                <a:solidFill>
                  <a:srgbClr val="8A9B90"/>
                </a:solidFill>
                <a:latin typeface="Noto Sans SC"/>
                <a:ea typeface="Noto Sans SC"/>
                <a:cs typeface="Noto Sans SC"/>
              </a:rPr>
              <a:t>产品定价较高，品牌溢价明显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7584" y="3525242"/>
            <a:ext cx="228598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0" i="0">
                <a:solidFill>
                  <a:srgbClr val="8A9B90"/>
                </a:solidFill>
                <a:latin typeface="Noto Sans SC"/>
                <a:ea typeface="Noto Sans SC"/>
                <a:cs typeface="Noto Sans SC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9424" y="3525242"/>
            <a:ext cx="1943094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0" i="0">
                <a:solidFill>
                  <a:srgbClr val="8A9B90"/>
                </a:solidFill>
                <a:latin typeface="Noto Sans SC"/>
                <a:ea typeface="Noto Sans SC"/>
                <a:cs typeface="Noto Sans SC"/>
              </a:rPr>
              <a:t>产品设计偏标准化，定制化空间较小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05178" y="6343650"/>
            <a:ext cx="210540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F1A13"/>
                </a:solidFill>
                <a:latin typeface="Manrope"/>
                <a:ea typeface="Manrope"/>
                <a:cs typeface="Manrope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9370" y="6343650"/>
            <a:ext cx="190498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0" i="0">
                <a:solidFill>
                  <a:srgbClr val="8A9B90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033" y="6216054"/>
            <a:ext cx="662977" cy="222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7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06398" y="3367583"/>
            <a:ext cx="406398" cy="19050"/>
          </a:xfrm>
          <a:prstGeom prst="roundRect">
            <a:avLst>
              <a:gd name="adj" fmla="val 50000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6324" y="3660874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76516" y="3660874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46709" y="3660874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16901" y="3660874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52220" y="6359525"/>
            <a:ext cx="9525" cy="76200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vg_6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523" y="3737074"/>
            <a:ext cx="152399" cy="152400"/>
          </a:xfrm>
          <a:prstGeom prst="rect">
            <a:avLst/>
          </a:prstGeom>
        </p:spPr>
      </p:pic>
      <p:pic>
        <p:nvPicPr>
          <p:cNvPr id="9" name="Picture 8" descr="svg_6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716" y="3737074"/>
            <a:ext cx="152399" cy="152400"/>
          </a:xfrm>
          <a:prstGeom prst="rect">
            <a:avLst/>
          </a:prstGeom>
        </p:spPr>
      </p:pic>
      <p:pic>
        <p:nvPicPr>
          <p:cNvPr id="10" name="Picture 9" descr="svg_6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2909" y="3737074"/>
            <a:ext cx="152399" cy="152400"/>
          </a:xfrm>
          <a:prstGeom prst="rect">
            <a:avLst/>
          </a:prstGeom>
        </p:spPr>
      </p:pic>
      <p:pic>
        <p:nvPicPr>
          <p:cNvPr id="11" name="Picture 10" descr="svg_6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3101" y="3737074"/>
            <a:ext cx="152399" cy="152400"/>
          </a:xfrm>
          <a:prstGeom prst="rect">
            <a:avLst/>
          </a:prstGeom>
        </p:spPr>
      </p:pic>
      <p:pic>
        <p:nvPicPr>
          <p:cNvPr id="12" name="Picture 11" descr="img_48482657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398" y="6177458"/>
            <a:ext cx="236834" cy="274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398" y="2806104"/>
            <a:ext cx="634997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06 / 服务体验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398" y="2949773"/>
            <a:ext cx="3131831" cy="393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服务更人性化，响应更快捷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723" y="3648174"/>
            <a:ext cx="825497" cy="279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小额快赔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23" y="3918545"/>
            <a:ext cx="15366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小额理赔案件处理速度快，流程简便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2915" y="3648174"/>
            <a:ext cx="1181096" cy="279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全流程线上化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2915" y="3918545"/>
            <a:ext cx="152736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投保 → 保全 → 理赔，全部在线完成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108" y="3648174"/>
            <a:ext cx="825497" cy="279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专属顾问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108" y="3918545"/>
            <a:ext cx="15366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为每位客户配备专属顾问，长期陪伴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23300" y="3648174"/>
            <a:ext cx="825497" cy="279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全国覆盖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3300" y="3918545"/>
            <a:ext cx="118109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分支机构覆盖全国主要省市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02598" y="6343650"/>
            <a:ext cx="213120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F1A13"/>
                </a:solidFill>
                <a:latin typeface="Manrope"/>
                <a:ea typeface="Manrope"/>
                <a:cs typeface="Manrope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9370" y="6343650"/>
            <a:ext cx="190498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0" i="0">
                <a:solidFill>
                  <a:srgbClr val="8A9B90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033" y="6216054"/>
            <a:ext cx="662977" cy="222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7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06398" y="3367583"/>
            <a:ext cx="406398" cy="19050"/>
          </a:xfrm>
          <a:prstGeom prst="roundRect">
            <a:avLst>
              <a:gd name="adj" fmla="val 50000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6276" y="3660874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76469" y="3660874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46662" y="3660874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16854" y="3660874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52220" y="6359525"/>
            <a:ext cx="9525" cy="76200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vg_7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476" y="3737074"/>
            <a:ext cx="152399" cy="152400"/>
          </a:xfrm>
          <a:prstGeom prst="rect">
            <a:avLst/>
          </a:prstGeom>
        </p:spPr>
      </p:pic>
      <p:pic>
        <p:nvPicPr>
          <p:cNvPr id="9" name="Picture 8" descr="svg_7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669" y="3737074"/>
            <a:ext cx="152399" cy="152400"/>
          </a:xfrm>
          <a:prstGeom prst="rect">
            <a:avLst/>
          </a:prstGeom>
        </p:spPr>
      </p:pic>
      <p:pic>
        <p:nvPicPr>
          <p:cNvPr id="10" name="Picture 9" descr="svg_7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2862" y="3737074"/>
            <a:ext cx="152399" cy="152400"/>
          </a:xfrm>
          <a:prstGeom prst="rect">
            <a:avLst/>
          </a:prstGeom>
        </p:spPr>
      </p:pic>
      <p:pic>
        <p:nvPicPr>
          <p:cNvPr id="11" name="Picture 10" descr="svg_7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3054" y="3737074"/>
            <a:ext cx="152399" cy="152400"/>
          </a:xfrm>
          <a:prstGeom prst="rect">
            <a:avLst/>
          </a:prstGeom>
        </p:spPr>
      </p:pic>
      <p:pic>
        <p:nvPicPr>
          <p:cNvPr id="12" name="Picture 11" descr="img_48482657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398" y="6177458"/>
            <a:ext cx="236834" cy="274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398" y="2806104"/>
            <a:ext cx="628250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07 / 财务实力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398" y="2949773"/>
            <a:ext cx="3383350" cy="393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财务稳健，资源聚焦中国市场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675" y="3648174"/>
            <a:ext cx="2070094" cy="279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全球系统重要性保险公司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675" y="3918545"/>
            <a:ext cx="66764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宏利金融入选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66017" y="3918545"/>
            <a:ext cx="30966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1E3A5F"/>
                </a:solidFill>
                <a:latin typeface="Noto Sans SC"/>
                <a:ea typeface="Noto Sans SC"/>
                <a:cs typeface="Noto Sans SC"/>
              </a:rPr>
              <a:t>G-SII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61378" y="3918545"/>
            <a:ext cx="128993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名单，全球金融体系核心成员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2868" y="3648174"/>
            <a:ext cx="1714494" cy="279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超万亿加元管理资产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2868" y="3918545"/>
            <a:ext cx="111213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宏利金融管理资产规模超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0708" y="3924895"/>
            <a:ext cx="350240" cy="146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1 万亿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6650" y="3918545"/>
            <a:ext cx="31204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加元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3060" y="3648174"/>
            <a:ext cx="1181096" cy="279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央企信用背书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060" y="3918545"/>
            <a:ext cx="198119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中化集团作为央企股东，提供强有力的信用保障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23253" y="3648174"/>
            <a:ext cx="1536695" cy="279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资源优先聚焦中宏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23253" y="3918545"/>
            <a:ext cx="224789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宏利将全球最优质资源、技术、产品创新优先引入中宏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08551" y="6343650"/>
            <a:ext cx="207167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F1A13"/>
                </a:solidFill>
                <a:latin typeface="Manrope"/>
                <a:ea typeface="Manrope"/>
                <a:cs typeface="Manrope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09370" y="6343650"/>
            <a:ext cx="190498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0" i="0">
                <a:solidFill>
                  <a:srgbClr val="8A9B90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033" y="6216054"/>
            <a:ext cx="662977" cy="222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7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06398" y="2089844"/>
            <a:ext cx="406398" cy="19050"/>
          </a:xfrm>
          <a:prstGeom prst="roundRect">
            <a:avLst>
              <a:gd name="adj" fmla="val 50000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6398" y="2383135"/>
            <a:ext cx="5638785" cy="914400"/>
          </a:xfrm>
          <a:prstGeom prst="roundRect">
            <a:avLst>
              <a:gd name="adj" fmla="val 8333"/>
            </a:avLst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46784" y="2383135"/>
            <a:ext cx="5638785" cy="914400"/>
          </a:xfrm>
          <a:prstGeom prst="roundRect">
            <a:avLst>
              <a:gd name="adj" fmla="val 8333"/>
            </a:avLst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6398" y="3399135"/>
            <a:ext cx="5638785" cy="914400"/>
          </a:xfrm>
          <a:prstGeom prst="roundRect">
            <a:avLst>
              <a:gd name="adj" fmla="val 8333"/>
            </a:avLst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46784" y="3399135"/>
            <a:ext cx="5638785" cy="914400"/>
          </a:xfrm>
          <a:prstGeom prst="roundRect">
            <a:avLst>
              <a:gd name="adj" fmla="val 8333"/>
            </a:avLst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51191" y="4415135"/>
            <a:ext cx="5689585" cy="914400"/>
          </a:xfrm>
          <a:prstGeom prst="roundRect">
            <a:avLst>
              <a:gd name="adj" fmla="val 8333"/>
            </a:avLst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652220" y="6359525"/>
            <a:ext cx="9525" cy="76200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g_48482657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98" y="6177458"/>
            <a:ext cx="236834" cy="2741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6398" y="1528365"/>
            <a:ext cx="634303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08 / 核心理由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398" y="1672034"/>
            <a:ext cx="3383350" cy="393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为什么更应该选择中宏保险？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7848" y="2484735"/>
            <a:ext cx="400842" cy="3746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848" y="2814935"/>
            <a:ext cx="1130296" cy="209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中外合资独特基因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7848" y="3011785"/>
            <a:ext cx="16255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既懂国际先进经验，又懂中国客户需求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233" y="2484735"/>
            <a:ext cx="438941" cy="3746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233" y="2814935"/>
            <a:ext cx="1732751" cy="209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行业领先的"保险+健康管理"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233" y="3011785"/>
            <a:ext cx="117236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从"事后赔付"到"全程守护"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848" y="3500735"/>
            <a:ext cx="435667" cy="3746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848" y="3830935"/>
            <a:ext cx="1130296" cy="209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更高的产品性价比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848" y="4027785"/>
            <a:ext cx="13588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灵活定制，更适合不同家庭需求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233" y="3500735"/>
            <a:ext cx="441720" cy="3746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233" y="3830935"/>
            <a:ext cx="1130296" cy="209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更温暖的服务体验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233" y="4027785"/>
            <a:ext cx="14477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有温度的保险，专属顾问全程陪伴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2641" y="4516735"/>
            <a:ext cx="435171" cy="3746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2641" y="4846935"/>
            <a:ext cx="1511295" cy="209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深耕中国市场的长期承诺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2641" y="5043785"/>
            <a:ext cx="22314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1483" y="5050135"/>
            <a:ext cx="226812" cy="146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43997" y="5043785"/>
            <a:ext cx="155663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年专注中国市场，资源投入更为集中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02499" y="6343650"/>
            <a:ext cx="213219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F1A13"/>
                </a:solidFill>
                <a:latin typeface="Manrope"/>
                <a:ea typeface="Manrope"/>
                <a:cs typeface="Manrope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9370" y="6343650"/>
            <a:ext cx="190498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599" b="0" i="0">
                <a:solidFill>
                  <a:srgbClr val="8A9B90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033" y="6216054"/>
            <a:ext cx="662977" cy="222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7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41985" y="3354089"/>
            <a:ext cx="507998" cy="19050"/>
          </a:xfrm>
          <a:prstGeom prst="roundRect">
            <a:avLst>
              <a:gd name="adj" fmla="val 50000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43845" y="2362299"/>
            <a:ext cx="1018477" cy="1333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599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MANULIFE-SINOCHEM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00227" y="2543869"/>
            <a:ext cx="2105713" cy="76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999" b="1" i="0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1635" y="3653730"/>
            <a:ext cx="1142996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60000"/>
              </a:lnSpc>
            </a:pPr>
            <a:r>
              <a:rPr sz="899" b="0" i="0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以人为本，健康守护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40287" y="3980060"/>
            <a:ext cx="2425693" cy="279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60000"/>
              </a:lnSpc>
            </a:pPr>
            <a:r>
              <a:rPr sz="139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选择中宏，选择更安心的未来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8640" y="4359771"/>
            <a:ext cx="1448887" cy="146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60000"/>
              </a:lnSpc>
            </a:pPr>
            <a:r>
              <a:rPr sz="699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www.manulife-sinochem.com.cn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