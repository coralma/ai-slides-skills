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41985" y="4077196"/>
            <a:ext cx="5079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_4449808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802595" y="2441674"/>
            <a:ext cx="662977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99" b="0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专业对比分析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99843" y="2642294"/>
            <a:ext cx="2441013" cy="8039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5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6871" y="3190875"/>
            <a:ext cx="2723984" cy="8039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5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vs 友邦保险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38736" y="4239716"/>
            <a:ext cx="180593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为什么中宏保险是您更明智的选择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960092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3116262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00A758">
              <a:alpha val="6000"/>
            </a:srgbClr>
          </a:solidFill>
          <a:ln w="9525">
            <a:solidFill>
              <a:srgbClr val="00A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5148" y="3275012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72184" y="3116262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F7F9F8"/>
          </a:solidFill>
          <a:ln w="9525">
            <a:solidFill>
              <a:srgbClr val="E5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30933" y="3275012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8A9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g_4449808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6398" y="2398613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01 / 公司背景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398" y="2542282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公司背景与股东结构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248" y="3286422"/>
            <a:ext cx="2666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中宏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4547" y="3276897"/>
            <a:ext cx="509268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中宏保险 Manulife-Sinochem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6988" y="3508573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成立于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928" y="3514923"/>
            <a:ext cx="4963305" cy="14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1996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0204" y="3508573"/>
            <a:ext cx="475703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年，中国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6043" y="3508573"/>
            <a:ext cx="438119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首家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3843" y="3508573"/>
            <a:ext cx="420339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中外合资寿险公司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988" y="3716734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加拿大宏利金融（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8187" y="3723084"/>
            <a:ext cx="4539047" cy="14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150+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1584" y="3716734"/>
            <a:ext cx="4335649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年历史）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988" y="3924895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中国中化集团（世界500强央企）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988" y="4133056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总部：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3688" y="4133056"/>
            <a:ext cx="49835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上海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9033" y="3286422"/>
            <a:ext cx="2666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友邦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10333" y="3276897"/>
            <a:ext cx="509268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友邦保险 AIA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774" y="3508573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1919年创立于上海，1992年重返中国内地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774" y="3716734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AIA集团（外商独资，香港上市）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774" y="3924895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单一外资股东，泛亚集团架构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52774" y="4133056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总部：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19473" y="4133056"/>
            <a:ext cx="49835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香港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15398" y="6343650"/>
            <a:ext cx="162221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949773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324306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46784" y="324306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6398" y="3837285"/>
            <a:ext cx="11379171" cy="632321"/>
          </a:xfrm>
          <a:prstGeom prst="roundRect">
            <a:avLst>
              <a:gd name="adj" fmla="val 12050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vg_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98" y="3319264"/>
            <a:ext cx="152399" cy="152400"/>
          </a:xfrm>
          <a:prstGeom prst="rect">
            <a:avLst/>
          </a:prstGeom>
        </p:spPr>
      </p:pic>
      <p:pic>
        <p:nvPicPr>
          <p:cNvPr id="8" name="Picture 7" descr="svg_2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984" y="3319264"/>
            <a:ext cx="152399" cy="152400"/>
          </a:xfrm>
          <a:prstGeom prst="rect">
            <a:avLst/>
          </a:prstGeom>
        </p:spPr>
      </p:pic>
      <p:pic>
        <p:nvPicPr>
          <p:cNvPr id="9" name="Picture 8" descr="img_44498082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398" y="2388294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02 / 核心优势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98" y="2531963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中外合资，更懂中国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797" y="3230364"/>
            <a:ext cx="2568131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宏利金融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97" y="3500735"/>
            <a:ext cx="2502091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全球领先的保险专业经验，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9595" y="3507085"/>
            <a:ext cx="1435293" cy="14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993" y="3500735"/>
            <a:ext cx="123189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年历史，超万亿加元管理资产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183" y="3230364"/>
            <a:ext cx="1979467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中化集团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3183" y="3500735"/>
            <a:ext cx="1913427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世界500强央企，深刻理解中国市场和政策环境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848" y="3989685"/>
            <a:ext cx="11144728" cy="1922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79" b="1" i="0">
                <a:solidFill>
                  <a:srgbClr val="007A3E"/>
                </a:solidFill>
                <a:latin typeface="Noto Sans SC"/>
                <a:ea typeface="Noto Sans SC"/>
                <a:cs typeface="Noto Sans SC"/>
              </a:rPr>
              <a:t>"外资专业 + 本土资源"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7571" y="3989685"/>
            <a:ext cx="10005006" cy="19227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79" b="0" i="0">
                <a:solidFill>
                  <a:srgbClr val="007A3E"/>
                </a:solidFill>
                <a:latin typeface="Noto Sans SC"/>
                <a:ea typeface="Noto Sans SC"/>
                <a:cs typeface="Noto Sans SC"/>
              </a:rPr>
              <a:t>的组合，使产品设计和服务更贴近中国消费者的实际需求。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848" y="4183856"/>
            <a:ext cx="1113152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相比之下，友邦为外商独资，决策链更多依赖香港总部，本土化响应不如中宏灵活。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3987" y="6343650"/>
            <a:ext cx="173631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793801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2949971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00A758">
              <a:alpha val="6000"/>
            </a:srgbClr>
          </a:solidFill>
          <a:ln w="9525">
            <a:solidFill>
              <a:srgbClr val="00A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5148" y="3108721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72184" y="2949971"/>
            <a:ext cx="5613385" cy="1343124"/>
          </a:xfrm>
          <a:prstGeom prst="roundRect">
            <a:avLst>
              <a:gd name="adj" fmla="val 5673"/>
            </a:avLst>
          </a:prstGeom>
          <a:solidFill>
            <a:srgbClr val="F7F9F8"/>
          </a:solidFill>
          <a:ln w="9525">
            <a:solidFill>
              <a:srgbClr val="E5E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30933" y="3108721"/>
            <a:ext cx="228599" cy="130770"/>
          </a:xfrm>
          <a:prstGeom prst="roundRect">
            <a:avLst>
              <a:gd name="adj" fmla="val 19423"/>
            </a:avLst>
          </a:prstGeom>
          <a:solidFill>
            <a:srgbClr val="8A9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06398" y="4430216"/>
            <a:ext cx="2336794" cy="195460"/>
          </a:xfrm>
          <a:prstGeom prst="roundRect">
            <a:avLst>
              <a:gd name="adj" fmla="val 50000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_4449808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398" y="2232322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03 / 市场定位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98" y="2375991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市场定位与差异化策略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248" y="3120132"/>
            <a:ext cx="2666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中宏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4547" y="3110607"/>
            <a:ext cx="509268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6988" y="3342282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核心战略：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1487" y="3342282"/>
            <a:ext cx="480574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"健康管理+保险"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19865" y="3342282"/>
            <a:ext cx="4117368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深度融合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6988" y="3550443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行业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788" y="3550443"/>
            <a:ext cx="50724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首创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587" y="3550443"/>
            <a:ext cx="489464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健康管理体系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988" y="3758604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品牌调性：温暖、陪伴、健康生活方式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6988" y="3966765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目标客群：中产家庭、注重健康管理人群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9033" y="3120132"/>
            <a:ext cx="2666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友邦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0333" y="3110607"/>
            <a:ext cx="509268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友邦保险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774" y="3342282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核心战略："卓越营销员"制度 + 高端客群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774" y="3550443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增值服务作为配套，非战略核心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774" y="3758604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品牌调性：高端、精英、国际化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774" y="3966765"/>
            <a:ext cx="525024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目标客群：高净值人群、企业高管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7998" y="4464446"/>
            <a:ext cx="1135377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99" b="0" i="0">
                <a:solidFill>
                  <a:srgbClr val="007A3E"/>
                </a:solidFill>
                <a:latin typeface="Times"/>
                <a:ea typeface="Times"/>
                <a:cs typeface="Times"/>
              </a:rPr>
              <a:t>中宏将健康管理嵌入公司战略核心，而非简单增值配套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4980" y="6343650"/>
            <a:ext cx="172639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3054548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3347839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233256" y="3347839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60213" y="3347839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vg_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98" y="3424039"/>
            <a:ext cx="152399" cy="152400"/>
          </a:xfrm>
          <a:prstGeom prst="rect">
            <a:avLst/>
          </a:prstGeom>
        </p:spPr>
      </p:pic>
      <p:pic>
        <p:nvPicPr>
          <p:cNvPr id="8" name="Picture 7" descr="svg_4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9456" y="3424039"/>
            <a:ext cx="152399" cy="152400"/>
          </a:xfrm>
          <a:prstGeom prst="rect">
            <a:avLst/>
          </a:prstGeom>
        </p:spPr>
      </p:pic>
      <p:pic>
        <p:nvPicPr>
          <p:cNvPr id="9" name="Picture 8" descr="svg_4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6412" y="3424039"/>
            <a:ext cx="152399" cy="152400"/>
          </a:xfrm>
          <a:prstGeom prst="rect">
            <a:avLst/>
          </a:prstGeom>
        </p:spPr>
      </p:pic>
      <p:pic>
        <p:nvPicPr>
          <p:cNvPr id="10" name="Picture 9" descr="img_444980825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6398" y="2493069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04 / 健康管理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398" y="2636738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行业标杆 —— "保险 + 健康管理"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97" y="3335139"/>
            <a:ext cx="2747716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MOVE 计划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797" y="3605510"/>
            <a:ext cx="268167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鼓励客户通过运动获得保险奖励，将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5194" y="3605510"/>
            <a:ext cx="125928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"被动理赔"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3385" y="3605510"/>
            <a:ext cx="801089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转变为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0084" y="3605510"/>
            <a:ext cx="534390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"主动健康"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9655" y="3335139"/>
            <a:ext cx="1831334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健康管家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9655" y="3605510"/>
            <a:ext cx="1765294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健康评估、就医协助、慢病管理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4252" y="3605510"/>
            <a:ext cx="520697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全流程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951" y="3605510"/>
            <a:ext cx="253998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服务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6612" y="3335139"/>
            <a:ext cx="1475735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互动式保单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6612" y="3605510"/>
            <a:ext cx="140969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客户健康行为与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8910" y="3605510"/>
            <a:ext cx="787397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保单利益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4509" y="3605510"/>
            <a:ext cx="431798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直接挂钩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39915" y="3891260"/>
            <a:ext cx="6848853" cy="425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领先行业近 10 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3637" y="4229000"/>
            <a:ext cx="6788131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6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中宏是国内最早将健康管理作为核心战略的保险公司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03194" y="6343650"/>
            <a:ext cx="174425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766714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2940744"/>
            <a:ext cx="380999" cy="123031"/>
          </a:xfrm>
          <a:prstGeom prst="roundRect">
            <a:avLst>
              <a:gd name="adj" fmla="val 20645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97584" y="2940744"/>
            <a:ext cx="380999" cy="123031"/>
          </a:xfrm>
          <a:prstGeom prst="roundRect">
            <a:avLst>
              <a:gd name="adj" fmla="val 20645"/>
            </a:avLst>
          </a:prstGeom>
          <a:solidFill>
            <a:srgbClr val="1E3A5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g_4449808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06398" y="2205235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05 / 产品特色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398" y="2348904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产品灵活定制，性价比更高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498" y="2948285"/>
            <a:ext cx="5626084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7A3E"/>
                </a:solidFill>
                <a:latin typeface="Times"/>
                <a:ea typeface="Times"/>
                <a:cs typeface="Times"/>
              </a:rPr>
              <a:t>中宏优势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398" y="3226494"/>
            <a:ext cx="17408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8239" y="3226494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灵活定制化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9737" y="3226494"/>
            <a:ext cx="4986085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— 保障组合自由搭配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398" y="3525242"/>
            <a:ext cx="17408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239" y="3525242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"多倍保"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2999" y="3525242"/>
            <a:ext cx="5082823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系列重疾险 — 多种可选责任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6398" y="3823989"/>
            <a:ext cx="17408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239" y="3823989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"健无忧"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2999" y="3823989"/>
            <a:ext cx="5082823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系列 — 健康管理内嵌到产品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6398" y="4122737"/>
            <a:ext cx="17408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239" y="4122737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养老规划丰富 — 依托宏利全球经验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398" y="4421485"/>
            <a:ext cx="17408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239" y="4421485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数字化体验佳 — 全流程线上化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35684" y="2948285"/>
            <a:ext cx="5626084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1E3A5F"/>
                </a:solidFill>
                <a:latin typeface="Times"/>
                <a:ea typeface="Times"/>
                <a:cs typeface="Times"/>
              </a:rPr>
              <a:t>友邦特点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7584" y="3226494"/>
            <a:ext cx="20573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9424" y="3226494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产品定价较高，品牌溢价明显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7584" y="3525242"/>
            <a:ext cx="205738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9424" y="3525242"/>
            <a:ext cx="5557584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899" b="0" i="0">
                <a:solidFill>
                  <a:srgbClr val="8A9B90"/>
                </a:solidFill>
                <a:latin typeface="Noto Sans SC"/>
                <a:ea typeface="Noto Sans SC"/>
                <a:cs typeface="Noto Sans SC"/>
              </a:rPr>
              <a:t>产品设计偏标准化，定制化空间较小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05178" y="6343650"/>
            <a:ext cx="17244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3367583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76591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46784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16977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vg_6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98" y="3737074"/>
            <a:ext cx="152399" cy="152400"/>
          </a:xfrm>
          <a:prstGeom prst="rect">
            <a:avLst/>
          </a:prstGeom>
        </p:spPr>
      </p:pic>
      <p:pic>
        <p:nvPicPr>
          <p:cNvPr id="9" name="Picture 8" descr="svg_6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1" y="3737074"/>
            <a:ext cx="152399" cy="152400"/>
          </a:xfrm>
          <a:prstGeom prst="rect">
            <a:avLst/>
          </a:prstGeom>
        </p:spPr>
      </p:pic>
      <p:pic>
        <p:nvPicPr>
          <p:cNvPr id="10" name="Picture 9" descr="svg_6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2984" y="3737074"/>
            <a:ext cx="152399" cy="152400"/>
          </a:xfrm>
          <a:prstGeom prst="rect">
            <a:avLst/>
          </a:prstGeom>
        </p:spPr>
      </p:pic>
      <p:pic>
        <p:nvPicPr>
          <p:cNvPr id="11" name="Picture 10" descr="svg_6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3176" y="3737074"/>
            <a:ext cx="152399" cy="152400"/>
          </a:xfrm>
          <a:prstGeom prst="rect">
            <a:avLst/>
          </a:prstGeom>
        </p:spPr>
      </p:pic>
      <p:pic>
        <p:nvPicPr>
          <p:cNvPr id="12" name="Picture 11" descr="img_4449808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398" y="2806104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06 / 服务体验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398" y="2949773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服务更人性化，响应更快捷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7" y="3648174"/>
            <a:ext cx="1564635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小额快赔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7" y="3918545"/>
            <a:ext cx="149859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小额理赔案件处理速度快，流程简便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2990" y="3648174"/>
            <a:ext cx="1555308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全流程线上化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2990" y="3918545"/>
            <a:ext cx="1489268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投保 → 保全 → 理赔，全部在线完成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183" y="3648174"/>
            <a:ext cx="1564635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专属顾问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183" y="3918545"/>
            <a:ext cx="149859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为每位客户配备专属顾问，长期陪伴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23376" y="3648174"/>
            <a:ext cx="1209036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全国覆盖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3376" y="3918545"/>
            <a:ext cx="1142996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分支机构覆盖全国主要省市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02598" y="6343650"/>
            <a:ext cx="17502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3367583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276591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146784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016977" y="3660874"/>
            <a:ext cx="304799" cy="304800"/>
          </a:xfrm>
          <a:prstGeom prst="roundRect">
            <a:avLst>
              <a:gd name="adj" fmla="val 20833"/>
            </a:avLst>
          </a:prstGeom>
          <a:solidFill>
            <a:srgbClr val="E6F5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vg_7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598" y="3737074"/>
            <a:ext cx="152399" cy="152400"/>
          </a:xfrm>
          <a:prstGeom prst="rect">
            <a:avLst/>
          </a:prstGeom>
        </p:spPr>
      </p:pic>
      <p:pic>
        <p:nvPicPr>
          <p:cNvPr id="9" name="Picture 8" descr="svg_7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791" y="3737074"/>
            <a:ext cx="152399" cy="152400"/>
          </a:xfrm>
          <a:prstGeom prst="rect">
            <a:avLst/>
          </a:prstGeom>
        </p:spPr>
      </p:pic>
      <p:pic>
        <p:nvPicPr>
          <p:cNvPr id="10" name="Picture 9" descr="svg_7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2984" y="3737074"/>
            <a:ext cx="152399" cy="152400"/>
          </a:xfrm>
          <a:prstGeom prst="rect">
            <a:avLst/>
          </a:prstGeom>
        </p:spPr>
      </p:pic>
      <p:pic>
        <p:nvPicPr>
          <p:cNvPr id="11" name="Picture 10" descr="svg_7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3176" y="3737074"/>
            <a:ext cx="152399" cy="152400"/>
          </a:xfrm>
          <a:prstGeom prst="rect">
            <a:avLst/>
          </a:prstGeom>
        </p:spPr>
      </p:pic>
      <p:pic>
        <p:nvPicPr>
          <p:cNvPr id="12" name="Picture 11" descr="img_44498082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6398" y="2806104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07 / 财务实力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398" y="2949773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财务稳健，资源聚焦中国市场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797" y="3648174"/>
            <a:ext cx="2098034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全球系统重要性保险公司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797" y="3918545"/>
            <a:ext cx="2031994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宏利金融入选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6139" y="3918545"/>
            <a:ext cx="1478652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1E3A5F"/>
                </a:solidFill>
                <a:latin typeface="Noto Sans SC"/>
                <a:ea typeface="Noto Sans SC"/>
                <a:cs typeface="Noto Sans SC"/>
              </a:rPr>
              <a:t>G-SII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61500" y="3918545"/>
            <a:ext cx="1283291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名单，全球金融体系核心成员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82990" y="3648174"/>
            <a:ext cx="1742434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超万亿加元管理资产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2990" y="3918545"/>
            <a:ext cx="1676394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宏利金融管理资产规模超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831" y="3924895"/>
            <a:ext cx="678554" cy="14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1 万亿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6772" y="3918545"/>
            <a:ext cx="442612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加元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3183" y="3648174"/>
            <a:ext cx="2009134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央企信用背书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183" y="3918545"/>
            <a:ext cx="1943094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中化集团作为央企股东，提供强有力的信用保障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23376" y="3648174"/>
            <a:ext cx="2275833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资源优先聚焦中宏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3376" y="3918545"/>
            <a:ext cx="2209793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宏利将全球最优质资源、技术、产品创新优先引入中宏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8551" y="6343650"/>
            <a:ext cx="169067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06398" y="2089844"/>
            <a:ext cx="4063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06398" y="2383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46784" y="2383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06398" y="3399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46784" y="3399135"/>
            <a:ext cx="56387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51191" y="4415135"/>
            <a:ext cx="5689585" cy="914400"/>
          </a:xfrm>
          <a:prstGeom prst="roundRect">
            <a:avLst>
              <a:gd name="adj" fmla="val 8333"/>
            </a:avLst>
          </a:prstGeom>
          <a:solidFill>
            <a:srgbClr val="F7F9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652220" y="6359525"/>
            <a:ext cx="9525" cy="76200"/>
          </a:xfrm>
          <a:prstGeom prst="rect">
            <a:avLst/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g_44498082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398" y="6177458"/>
            <a:ext cx="236834" cy="27414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6398" y="1528365"/>
            <a:ext cx="11455370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08 / 核心理由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6398" y="1672034"/>
            <a:ext cx="1158237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为什么更应该选择中宏保险？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7848" y="2484735"/>
            <a:ext cx="5518135" cy="425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848" y="2814935"/>
            <a:ext cx="5416535" cy="222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中外合资独特基因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7848" y="3011785"/>
            <a:ext cx="539113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既懂国际先进经验，又懂中国客户需求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8233" y="2484735"/>
            <a:ext cx="5518135" cy="425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233" y="2814935"/>
            <a:ext cx="5416535" cy="222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行业领先的"保险+健康管理"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233" y="3011785"/>
            <a:ext cx="539113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从"事后赔付"到"全程守护"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848" y="3500735"/>
            <a:ext cx="5518135" cy="425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848" y="3830935"/>
            <a:ext cx="5416535" cy="222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更高的产品性价比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848" y="4027785"/>
            <a:ext cx="539113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灵活定制，更适合不同家庭需求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233" y="3500735"/>
            <a:ext cx="5518135" cy="425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233" y="3830935"/>
            <a:ext cx="5416535" cy="222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更温暖的服务体验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233" y="4027785"/>
            <a:ext cx="539113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有温度的保险，专属顾问全程陪伴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2641" y="4516735"/>
            <a:ext cx="5568935" cy="4254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2641" y="4846935"/>
            <a:ext cx="5467335" cy="222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99" b="1" i="0">
                <a:solidFill>
                  <a:srgbClr val="0F1A13"/>
                </a:solidFill>
                <a:latin typeface="Noto Sans SC"/>
                <a:ea typeface="Noto Sans SC"/>
                <a:cs typeface="Noto Sans SC"/>
              </a:rPr>
              <a:t>深耕中国市场的长期承诺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2641" y="5043785"/>
            <a:ext cx="5441935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1483" y="5050135"/>
            <a:ext cx="5333092" cy="14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1" i="0">
                <a:solidFill>
                  <a:srgbClr val="00A758"/>
                </a:solidFill>
                <a:latin typeface="Manrope"/>
                <a:ea typeface="Manrope"/>
                <a:cs typeface="Manrope"/>
              </a:rPr>
              <a:t>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43997" y="5043785"/>
            <a:ext cx="5220578" cy="15367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699" b="0" i="0">
                <a:solidFill>
                  <a:srgbClr val="5A6B60"/>
                </a:solidFill>
                <a:latin typeface="Noto Sans SC"/>
                <a:ea typeface="Noto Sans SC"/>
                <a:cs typeface="Noto Sans SC"/>
              </a:rPr>
              <a:t>年专注中国市场，资源投入更为集中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02499" y="6343650"/>
            <a:ext cx="175119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1" i="0">
                <a:solidFill>
                  <a:srgbClr val="0F1A13"/>
                </a:solidFill>
                <a:latin typeface="Manrope"/>
                <a:ea typeface="Manrope"/>
                <a:cs typeface="Manrope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9370" y="6343650"/>
            <a:ext cx="152398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99" b="0" i="0">
                <a:solidFill>
                  <a:srgbClr val="8A9B90"/>
                </a:solidFill>
                <a:latin typeface="Manrope"/>
                <a:ea typeface="Manrope"/>
                <a:cs typeface="Manrope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033" y="6216054"/>
            <a:ext cx="658405" cy="23799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7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841985" y="3354089"/>
            <a:ext cx="507998" cy="19050"/>
          </a:xfrm>
          <a:prstGeom prst="roundRect">
            <a:avLst>
              <a:gd name="adj" fmla="val 50000"/>
            </a:avLst>
          </a:prstGeom>
          <a:solidFill>
            <a:srgbClr val="00A7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43845" y="2362299"/>
            <a:ext cx="980377" cy="13334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99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MANULIFE-SINOCHEM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100227" y="2543869"/>
            <a:ext cx="2397812" cy="889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3999" b="1" i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中宏保险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81635" y="3653730"/>
            <a:ext cx="1120136" cy="1993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899" b="0" i="0">
                <a:solidFill>
                  <a:srgbClr val="FFFFFF"/>
                </a:solidFill>
                <a:latin typeface="Noto Sans SC"/>
                <a:ea typeface="Noto Sans SC"/>
                <a:cs typeface="Noto Sans SC"/>
              </a:rPr>
              <a:t>以人为本，健康守护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40287" y="3980060"/>
            <a:ext cx="2453633" cy="3073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1399" b="1" i="0">
                <a:solidFill>
                  <a:srgbClr val="00A758"/>
                </a:solidFill>
                <a:latin typeface="Noto Sans SC"/>
                <a:ea typeface="Noto Sans SC"/>
                <a:cs typeface="Noto Sans SC"/>
              </a:rPr>
              <a:t>选择中宏，选择更安心的未来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8640" y="4359771"/>
            <a:ext cx="1410787" cy="14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60000"/>
              </a:lnSpc>
            </a:pPr>
            <a:r>
              <a:rPr sz="699" b="0" i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www.manulife-sinochem.com.cn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