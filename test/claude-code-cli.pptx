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2139751"/>
            <a:ext cx="587075" cy="190500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7774" y="2139751"/>
            <a:ext cx="587075" cy="190500"/>
          </a:xfrm>
          <a:prstGeom prst="roundRect">
            <a:avLst>
              <a:gd name="adj" fmla="val 50000"/>
            </a:avLst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58350" y="2139751"/>
            <a:ext cx="689370" cy="190500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1220" y="2139751"/>
            <a:ext cx="587075" cy="190500"/>
          </a:xfrm>
          <a:prstGeom prst="roundRect">
            <a:avLst>
              <a:gd name="adj" fmla="val 50000"/>
            </a:avLst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198" y="457200"/>
            <a:ext cx="984147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AI 工具分享 ·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8" y="608310"/>
            <a:ext cx="2885551" cy="6743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8473" y="608310"/>
            <a:ext cx="1384276" cy="6743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99" b="1" i="0">
                <a:solidFill>
                  <a:srgbClr val="000000"/>
                </a:solidFill>
                <a:latin typeface="Manrope"/>
                <a:ea typeface="Noto Sans SC"/>
                <a:cs typeface="Manrope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8" y="1055290"/>
            <a:ext cx="2885551" cy="6743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CLI 工具介绍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8" y="1753691"/>
            <a:ext cx="3635761" cy="22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由 Anthropic 开发的 AI 编程助手 · 直接在终端中与代码库对话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098" y="2165151"/>
            <a:ext cx="575391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终端原生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6674" y="2165151"/>
            <a:ext cx="575391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代码感知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249" y="2165151"/>
            <a:ext cx="677685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多文件编辑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0119" y="2165151"/>
            <a:ext cx="575391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安全可控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16291" y="6430069"/>
            <a:ext cx="29467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198" y="1253430"/>
            <a:ext cx="5516846" cy="623490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8" y="1253430"/>
            <a:ext cx="19049" cy="623490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824" y="1253430"/>
            <a:ext cx="5516945" cy="1221184"/>
          </a:xfrm>
          <a:prstGeom prst="roundRect">
            <a:avLst>
              <a:gd name="adj" fmla="val 6239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7034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824" y="2576214"/>
            <a:ext cx="5516945" cy="1221184"/>
          </a:xfrm>
          <a:prstGeom prst="roundRect">
            <a:avLst>
              <a:gd name="adj" fmla="val 6239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7034" y="276542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824" y="3898999"/>
            <a:ext cx="5516945" cy="1221184"/>
          </a:xfrm>
          <a:prstGeom prst="roundRect">
            <a:avLst>
              <a:gd name="adj" fmla="val 6239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7034" y="4088209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v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584" y="1525190"/>
            <a:ext cx="165099" cy="165100"/>
          </a:xfrm>
          <a:prstGeom prst="rect">
            <a:avLst/>
          </a:prstGeom>
        </p:spPr>
      </p:pic>
      <p:pic>
        <p:nvPicPr>
          <p:cNvPr id="11" name="Picture 10" descr="svg_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584" y="2847975"/>
            <a:ext cx="165099" cy="165100"/>
          </a:xfrm>
          <a:prstGeom prst="rect">
            <a:avLst/>
          </a:prstGeom>
        </p:spPr>
      </p:pic>
      <p:pic>
        <p:nvPicPr>
          <p:cNvPr id="12" name="Picture 11" descr="svg_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84" y="4170759"/>
            <a:ext cx="165099" cy="165100"/>
          </a:xfrm>
          <a:prstGeom prst="rect">
            <a:avLst/>
          </a:prstGeom>
        </p:spPr>
      </p:pic>
      <p:pic>
        <p:nvPicPr>
          <p:cNvPr id="13" name="Picture 12" descr="img_4409168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57198" y="2019669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198" y="2281705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198" y="2543742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198" y="2805779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8" y="457200"/>
            <a:ext cx="278902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概览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8" y="640060"/>
            <a:ext cx="2870192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什么是 Claude Code？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8" y="1387971"/>
            <a:ext cx="52824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Claude Code 是 Anthropic 推出的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3300" y="1387971"/>
            <a:ext cx="3587752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终端原生 AI 编程工具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48" y="1387971"/>
            <a:ext cx="5282403" cy="415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，</a:t>
            </a:r>
          </a:p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                让开发者直接在命令行与完整代码库进行深度对话，自动完成代码编写、调试、重构与测试。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148" y="1991221"/>
            <a:ext cx="550643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完整代码库感知，无需手动粘贴代码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148" y="2253257"/>
            <a:ext cx="550643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多文件同步编辑，保持逻辑一致性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148" y="2515294"/>
            <a:ext cx="550643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支持 Git 操作、运行测试、执行命令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148" y="2777331"/>
            <a:ext cx="550643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内置权限管控，操作前明确提示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7034" y="1870372"/>
            <a:ext cx="5231996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终端原生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7034" y="2133004"/>
            <a:ext cx="52198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在 zsh / bash 中直接运行，不依赖 IDE 插件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7034" y="3193157"/>
            <a:ext cx="5231996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深度上下文理解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7034" y="3455789"/>
            <a:ext cx="52198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读取项目结构、依赖关系与历史提交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7034" y="4515941"/>
            <a:ext cx="5231996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安全优先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7034" y="4778573"/>
            <a:ext cx="52198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所有文件写入与命令执行需用户确认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03194" y="6430069"/>
            <a:ext cx="30777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253430"/>
            <a:ext cx="6620255" cy="4553049"/>
          </a:xfrm>
          <a:prstGeom prst="roundRect">
            <a:avLst>
              <a:gd name="adj" fmla="val 1394"/>
            </a:avLst>
          </a:prstGeom>
          <a:solidFill>
            <a:srgbClr val="0F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8" y="1253430"/>
            <a:ext cx="19049" cy="4553049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21233" y="1253430"/>
            <a:ext cx="4413536" cy="804267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21233" y="1253430"/>
            <a:ext cx="19049" cy="804267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21233" y="2159297"/>
            <a:ext cx="4413536" cy="816967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21233" y="2159297"/>
            <a:ext cx="19049" cy="816967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21233" y="3077864"/>
            <a:ext cx="4413536" cy="644326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21233" y="3077864"/>
            <a:ext cx="19049" cy="644326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快速开始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8" y="640060"/>
            <a:ext cx="147319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安装与配置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08" y="1468040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1. 安装 Node.js 18+ (如已安装可跳过)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08" y="1650900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147" y="1650900"/>
            <a:ext cx="619472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brew install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08" y="2016621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2. 全局安装 Claude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08" y="2199481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147" y="2199481"/>
            <a:ext cx="619472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npm install -g @anthropic-ai/claude-code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08" y="2565201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3. 进入项目目录并启动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08" y="2748061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147" y="2748061"/>
            <a:ext cx="619472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cd ~/my-project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108" y="2930921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147" y="2930921"/>
            <a:ext cx="619472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08" y="3296642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4. 查看版本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08" y="3479502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147" y="3479502"/>
            <a:ext cx="619472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 --version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108" y="3662362"/>
            <a:ext cx="631676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FFD080"/>
                </a:solidFill>
                <a:latin typeface="JetBrains Mono"/>
                <a:ea typeface="+mn-ea"/>
                <a:cs typeface="JetBrains Mono"/>
              </a:rPr>
              <a:t>1.x.x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2683" y="1387971"/>
            <a:ext cx="4179094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系统要求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2683" y="1596925"/>
            <a:ext cx="417096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Node.js 18 或更高版本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2683" y="1769566"/>
            <a:ext cx="417096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macOS / Linux / Windows (WSL)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2683" y="2293838"/>
            <a:ext cx="4179094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API 密钥配置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2683" y="2502792"/>
            <a:ext cx="417096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首次运行时会引导登录 Anthropic Console 获取密钥，或设置环境变量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2683" y="2707183"/>
            <a:ext cx="4170966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24097"/>
                </a:solidFill>
                <a:latin typeface="monospace"/>
                <a:ea typeface="+mn-ea"/>
                <a:cs typeface="monospace"/>
              </a:rPr>
              <a:t>ANTHROPIC_API_KEY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2683" y="3212405"/>
            <a:ext cx="4179094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企业网络提示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2683" y="3421360"/>
            <a:ext cx="417096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如在代理环境下，需配置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3001" y="3453110"/>
            <a:ext cx="3030648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0A758"/>
                </a:solidFill>
                <a:latin typeface="monospace"/>
                <a:ea typeface="+mn-ea"/>
                <a:cs typeface="monospace"/>
              </a:rPr>
              <a:t>HTTPS_PROXY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3718" y="3421360"/>
            <a:ext cx="235993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环境变量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4384" y="6430069"/>
            <a:ext cx="30658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253430"/>
            <a:ext cx="3664337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408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3716" y="1253430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2926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0333" y="1253430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59543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198" y="3601045"/>
            <a:ext cx="3664337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6408" y="379025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3716" y="3601045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2926" y="379025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0333" y="3601045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9543" y="379025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vg_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58" y="1525190"/>
            <a:ext cx="165099" cy="165100"/>
          </a:xfrm>
          <a:prstGeom prst="rect">
            <a:avLst/>
          </a:prstGeom>
        </p:spPr>
      </p:pic>
      <p:pic>
        <p:nvPicPr>
          <p:cNvPr id="15" name="Picture 14" descr="svg_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75" y="1525190"/>
            <a:ext cx="165099" cy="165100"/>
          </a:xfrm>
          <a:prstGeom prst="rect">
            <a:avLst/>
          </a:prstGeom>
        </p:spPr>
      </p:pic>
      <p:pic>
        <p:nvPicPr>
          <p:cNvPr id="16" name="Picture 15" descr="svg_3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092" y="1525190"/>
            <a:ext cx="165099" cy="165100"/>
          </a:xfrm>
          <a:prstGeom prst="rect">
            <a:avLst/>
          </a:prstGeom>
        </p:spPr>
      </p:pic>
      <p:pic>
        <p:nvPicPr>
          <p:cNvPr id="17" name="Picture 16" descr="svg_3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58" y="3872805"/>
            <a:ext cx="165099" cy="165100"/>
          </a:xfrm>
          <a:prstGeom prst="rect">
            <a:avLst/>
          </a:prstGeom>
        </p:spPr>
      </p:pic>
      <p:pic>
        <p:nvPicPr>
          <p:cNvPr id="18" name="Picture 17" descr="svg_3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75" y="3872805"/>
            <a:ext cx="165099" cy="165100"/>
          </a:xfrm>
          <a:prstGeom prst="rect">
            <a:avLst/>
          </a:prstGeom>
        </p:spPr>
      </p:pic>
      <p:pic>
        <p:nvPicPr>
          <p:cNvPr id="19" name="Picture 18" descr="svg_3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092" y="3872805"/>
            <a:ext cx="165099" cy="165100"/>
          </a:xfrm>
          <a:prstGeom prst="rect">
            <a:avLst/>
          </a:prstGeom>
        </p:spPr>
      </p:pic>
      <p:pic>
        <p:nvPicPr>
          <p:cNvPr id="20" name="Picture 19" descr="img_44091689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核心能力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8" y="640060"/>
            <a:ext cx="172719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六大核心功能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08" y="1870372"/>
            <a:ext cx="3379389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代码库探索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08" y="2133004"/>
            <a:ext cx="336719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自动理解项目结构、依赖关系与架构，无需手动导入文件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2926" y="1870372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多文件编辑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2926" y="2133004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同时修改多个文件，保持跨文件的逻辑一致性与引用正确性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9543" y="1870372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调试与修复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9543" y="2133004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分析报错信息，定位根因，自动生成修复方案并应用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08" y="4217987"/>
            <a:ext cx="3379389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测试生成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08" y="4480619"/>
            <a:ext cx="336719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自动为函数和模块编写单元测试，并运行验证通过率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2926" y="4217987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Git 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2926" y="4480619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创建分支、暂存更改、生成提交消息，直接在对话中完成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9543" y="4217987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命令执行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9543" y="4480619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在沙箱权限下执行构建、测试、脚本命令，操作前显示确认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01805" y="6430069"/>
            <a:ext cx="30916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253430"/>
            <a:ext cx="5516846" cy="4553049"/>
          </a:xfrm>
          <a:prstGeom prst="roundRect">
            <a:avLst>
              <a:gd name="adj" fmla="val 1394"/>
            </a:avLst>
          </a:prstGeom>
          <a:solidFill>
            <a:srgbClr val="0F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8" y="1253430"/>
            <a:ext cx="19049" cy="4553049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824" y="1534715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824" y="1979116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824" y="2423517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824" y="2867917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实际操作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8" y="640060"/>
            <a:ext cx="172719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常用命令示例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08" y="1468040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启动交互式会话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08" y="1650900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147" y="1650900"/>
            <a:ext cx="5091317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08" y="2016621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单次查询（非交互式）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08" y="2199481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147" y="2199481"/>
            <a:ext cx="5091317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985" y="2199481"/>
            <a:ext cx="4664479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7EC8E3"/>
                </a:solidFill>
                <a:latin typeface="JetBrains Mono"/>
                <a:ea typeface="+mn-ea"/>
                <a:cs typeface="JetBrains Mono"/>
              </a:rPr>
              <a:t>-p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944" y="2199481"/>
            <a:ext cx="4481520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FFD080"/>
                </a:solidFill>
                <a:latin typeface="JetBrains Mono"/>
                <a:ea typeface="+mn-ea"/>
                <a:cs typeface="JetBrains Mono"/>
              </a:rPr>
              <a:t>"解释这个函数的作用"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08" y="2565201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指定文件上下文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08" y="2748061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147" y="2748061"/>
            <a:ext cx="5091317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985" y="2748061"/>
            <a:ext cx="4664479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7EC8E3"/>
                </a:solidFill>
                <a:latin typeface="JetBrains Mono"/>
                <a:ea typeface="+mn-ea"/>
                <a:cs typeface="JetBrains Mono"/>
              </a:rPr>
              <a:t>--file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3803" y="2748061"/>
            <a:ext cx="4298660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src/main.py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08" y="3113782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切换模型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08" y="3296642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147" y="3296642"/>
            <a:ext cx="5091317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985" y="3296642"/>
            <a:ext cx="4664479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7EC8E3"/>
                </a:solidFill>
                <a:latin typeface="JetBrains Mono"/>
                <a:ea typeface="+mn-ea"/>
                <a:cs typeface="JetBrains Mono"/>
              </a:rPr>
              <a:t>--model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4823" y="3296642"/>
            <a:ext cx="4237641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claude-opus-4-5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108" y="3662362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查看帮助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108" y="3845222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147" y="3845222"/>
            <a:ext cx="5091317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985" y="3845222"/>
            <a:ext cx="4664479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7EC8E3"/>
                </a:solidFill>
                <a:latin typeface="JetBrains Mono"/>
                <a:ea typeface="+mn-ea"/>
                <a:cs typeface="JetBrains Mono"/>
              </a:rPr>
              <a:t>--help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824" y="1266130"/>
            <a:ext cx="5606352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交互式会话常用指令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0197" y="1582340"/>
            <a:ext cx="213441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8144" y="1534715"/>
            <a:ext cx="1764413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/help — 查看所有斜线命令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8144" y="1712515"/>
            <a:ext cx="1752221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列出 Claude Code 内置的所有快捷指令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2954" y="2026741"/>
            <a:ext cx="220684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8144" y="1979116"/>
            <a:ext cx="1633742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/clear — 清除对话上下文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8144" y="2156916"/>
            <a:ext cx="1621550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开始新任务前重置上下文，避免干扰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3549" y="2471142"/>
            <a:ext cx="220089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8144" y="2423517"/>
            <a:ext cx="1606060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/diff — 查看待提交变更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8144" y="2601317"/>
            <a:ext cx="1593868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显示 Claude 对文件所做的所有修改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2358" y="2915542"/>
            <a:ext cx="221280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8144" y="2867917"/>
            <a:ext cx="1535417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/cost — 查看 Token 使用量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8144" y="3045717"/>
            <a:ext cx="1523225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实时查看当前会话的 API 消耗统计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02995" y="6430069"/>
            <a:ext cx="307973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734839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8" y="2179240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198" y="2623641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198" y="3068042"/>
            <a:ext cx="228599" cy="228600"/>
          </a:xfrm>
          <a:prstGeom prst="roundRect">
            <a:avLst>
              <a:gd name="adj" fmla="val 50000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824" y="1253430"/>
            <a:ext cx="5516945" cy="1465064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824" y="1253430"/>
            <a:ext cx="19049" cy="1465064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824" y="2820094"/>
            <a:ext cx="5516945" cy="644326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824" y="2820094"/>
            <a:ext cx="19049" cy="644326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389274" y="1644423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89274" y="1906460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89274" y="2168497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9274" y="2430533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高级特性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8" y="640060"/>
            <a:ext cx="3804929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Agent 模式：自主完成复杂任务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8" y="1266130"/>
            <a:ext cx="560625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Claude Code 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844" y="1266130"/>
            <a:ext cx="4672607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Agent 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8" y="1266130"/>
            <a:ext cx="5606253" cy="415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——自主规划与执行多步骤任务，</a:t>
            </a:r>
          </a:p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              无需逐步人工确认，适合复杂的重构、迁移或功能开发场景。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71" y="1782464"/>
            <a:ext cx="213441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518" y="1734839"/>
            <a:ext cx="1730282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理解任务目标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518" y="1912639"/>
            <a:ext cx="1718090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分析需求，分解为可执行的子任务序列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328" y="2226865"/>
            <a:ext cx="220684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518" y="2179240"/>
            <a:ext cx="1923361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探索代码库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518" y="2357040"/>
            <a:ext cx="1911169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读取相关文件、测试、文档，建立全局理解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3" y="2671266"/>
            <a:ext cx="220089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518" y="2623641"/>
            <a:ext cx="1923361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执行变更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518" y="2801441"/>
            <a:ext cx="1911169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编辑文件、运行测试、处理报错，循环迭代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32" y="3115667"/>
            <a:ext cx="221280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anrope"/>
                <a:ea typeface="+mn-ea"/>
                <a:cs typeface="Manrop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518" y="3068042"/>
            <a:ext cx="1923361" cy="18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7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汇报结果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518" y="3245842"/>
            <a:ext cx="1911169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总结完成的操作，列出所有文件变更供审查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9274" y="1387971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典型 Agent 任务示例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7224" y="1615975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将整个项目从 Python 2 迁移到 Python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7224" y="1878012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为所有 API 端点添加输入验证与错误处理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7224" y="2140049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将数据库层从 SQLite 替换为 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7224" y="2402085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生成完整的 API 文档与使用示例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9274" y="2954635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安全保障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9274" y="3163589"/>
            <a:ext cx="52743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高风险操作（删除文件、外部 API 调用）仍需明确授权，可通过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4803" y="3195339"/>
            <a:ext cx="240884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0A758"/>
                </a:solidFill>
                <a:latin typeface="monospace"/>
                <a:ea typeface="+mn-ea"/>
                <a:cs typeface="monospace"/>
              </a:rPr>
              <a:t>--permission-mode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1339" y="3163589"/>
            <a:ext cx="13723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精细控制权限级别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99919" y="6430069"/>
            <a:ext cx="311049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198" y="1253430"/>
            <a:ext cx="5516846" cy="605730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8" y="1253430"/>
            <a:ext cx="19049" cy="605730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198" y="1981001"/>
            <a:ext cx="5516846" cy="605730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198" y="1981001"/>
            <a:ext cx="19049" cy="605730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8" y="2708572"/>
            <a:ext cx="5516846" cy="605730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198" y="2708572"/>
            <a:ext cx="19049" cy="605730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824" y="1253430"/>
            <a:ext cx="5516945" cy="605730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824" y="1253430"/>
            <a:ext cx="19049" cy="605730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824" y="1981001"/>
            <a:ext cx="5516945" cy="605730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824" y="1981001"/>
            <a:ext cx="19049" cy="605730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824" y="2708572"/>
            <a:ext cx="5516945" cy="605730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824" y="2708572"/>
            <a:ext cx="19049" cy="605730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198" y="457200"/>
            <a:ext cx="583007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安全与合规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8" y="640060"/>
            <a:ext cx="1981194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企业级安全保障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8" y="1387971"/>
            <a:ext cx="52824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🛡️ 权限分级管控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48" y="1596925"/>
            <a:ext cx="5269195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三级权限模式：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3186" y="1596925"/>
            <a:ext cx="4664657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默认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5926" y="1596925"/>
            <a:ext cx="4491918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（每次确认）、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7304" y="1596925"/>
            <a:ext cx="3930539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自动接受编辑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5522" y="1596925"/>
            <a:ext cx="3412321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941" y="1596925"/>
            <a:ext cx="3325902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完全自主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7420" y="1596925"/>
            <a:ext cx="2980423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。可根据团队安全策略灵活配置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48" y="2115542"/>
            <a:ext cx="52824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🔑 数据不训练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8" y="2324496"/>
            <a:ext cx="5269195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API 调用模式下，代码内容不用于模型训练。企业客户可签署数据处理协议（DPA）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48" y="2843113"/>
            <a:ext cx="52824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📋 完整审计追踪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48" y="3052067"/>
            <a:ext cx="5269195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所有文件修改均可通过 Git diff 审查，操作日志完整保存，满足合规审计要求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9274" y="1387971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🌐 网络隔离选项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9274" y="1596925"/>
            <a:ext cx="5269295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支持配置私有 API 端点，适用于需要网络隔离的金融、保险等高合规行业部署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9274" y="2115542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🏢 团队策略管理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9274" y="2324496"/>
            <a:ext cx="5269295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通过 CLAUDE.md 文件定义团队规范，统一代码风格、禁止操作列表与最佳实践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9274" y="2843113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⚠️ 使用注意事项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9274" y="3052067"/>
            <a:ext cx="5269295" cy="15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67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避免将生产数据库凭证、私钥等敏感信息直接粘贴至对话；建议在独立分支上进行大范围变更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08155" y="6430069"/>
            <a:ext cx="30281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253430"/>
            <a:ext cx="3657590" cy="965200"/>
          </a:xfrm>
          <a:prstGeom prst="roundRect">
            <a:avLst>
              <a:gd name="adj" fmla="val 7894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60594" y="1442640"/>
            <a:ext cx="50799" cy="508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7189" y="1253430"/>
            <a:ext cx="3657590" cy="965200"/>
          </a:xfrm>
          <a:prstGeom prst="roundRect">
            <a:avLst>
              <a:gd name="adj" fmla="val 7894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0584" y="1442640"/>
            <a:ext cx="50799" cy="50800"/>
          </a:xfrm>
          <a:prstGeom prst="roundRect">
            <a:avLst>
              <a:gd name="adj" fmla="val 50000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179" y="1253430"/>
            <a:ext cx="3657590" cy="965200"/>
          </a:xfrm>
          <a:prstGeom prst="roundRect">
            <a:avLst>
              <a:gd name="adj" fmla="val 7894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80574" y="1442640"/>
            <a:ext cx="50799" cy="5080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98" y="2503090"/>
            <a:ext cx="5516846" cy="3303389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198" y="2503090"/>
            <a:ext cx="19049" cy="3303389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824" y="2503090"/>
            <a:ext cx="5516945" cy="3303389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824" y="2503090"/>
            <a:ext cx="19049" cy="3303389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28648" y="2881383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648" y="3143420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8648" y="3405457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8648" y="3667494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9274" y="2881383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9274" y="3143420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9274" y="3405457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9274" y="3667494"/>
            <a:ext cx="44449" cy="44450"/>
          </a:xfrm>
          <a:prstGeom prst="ellipse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效率提升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8" y="640060"/>
            <a:ext cx="3682990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使用 Claude Code 的效率增益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9288" y="1491059"/>
            <a:ext cx="2200130" cy="504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344" y="1880889"/>
            <a:ext cx="313651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GitHub 研究显示，使用 AI 辅助编程的开发者任务完成速度提升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725" y="1491059"/>
            <a:ext cx="2053683" cy="504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99" b="1" i="0">
                <a:solidFill>
                  <a:srgbClr val="024097"/>
                </a:solidFill>
                <a:latin typeface="Manrope"/>
                <a:ea typeface="+mn-ea"/>
                <a:cs typeface="Manrope"/>
              </a:rPr>
              <a:t>2×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6140" y="1880889"/>
            <a:ext cx="32007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复杂代码审查与重构任务中，Claude Code 平均节省一半以上时间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1211" y="1491059"/>
            <a:ext cx="2218187" cy="504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2854" y="1880889"/>
            <a:ext cx="306398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常见样板代码（CRUD、API 客户端、测试文件）可自动生成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48" y="2637631"/>
            <a:ext cx="52824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适合场景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598" y="2852935"/>
            <a:ext cx="5182582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新功能开发与原型验证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598" y="3114972"/>
            <a:ext cx="5182582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遗留代码理解与重构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598" y="3377009"/>
            <a:ext cx="5182582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跨语言代码翻译迁移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598" y="3639046"/>
            <a:ext cx="5182582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自动化测试用例生成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9274" y="2637631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7224" y="2852935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输出需人工审查，不可盲目信任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7224" y="3114972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复杂业务逻辑仍需深度参与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7224" y="3377009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大型变更建议分步执行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7224" y="3639046"/>
            <a:ext cx="5182681" cy="214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确保代码符合团队规范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02202" y="6430069"/>
            <a:ext cx="308767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253430"/>
            <a:ext cx="3664337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408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3716" y="1253430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2926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0333" y="1253430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59543" y="1442640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198" y="3601045"/>
            <a:ext cx="3664337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6408" y="379025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3716" y="3601045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2926" y="379025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0333" y="3601045"/>
            <a:ext cx="3664436" cy="2205434"/>
          </a:xfrm>
          <a:prstGeom prst="roundRect">
            <a:avLst>
              <a:gd name="adj" fmla="val 3455"/>
            </a:avLst>
          </a:prstGeom>
          <a:solidFill>
            <a:srgbClr val="F7FA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9543" y="3790255"/>
            <a:ext cx="330199" cy="330200"/>
          </a:xfrm>
          <a:prstGeom prst="roundRect">
            <a:avLst>
              <a:gd name="adj" fmla="val 23076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vg_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58" y="1525190"/>
            <a:ext cx="165099" cy="165100"/>
          </a:xfrm>
          <a:prstGeom prst="rect">
            <a:avLst/>
          </a:prstGeom>
        </p:spPr>
      </p:pic>
      <p:pic>
        <p:nvPicPr>
          <p:cNvPr id="15" name="Picture 14" descr="svg_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75" y="1525190"/>
            <a:ext cx="165099" cy="165100"/>
          </a:xfrm>
          <a:prstGeom prst="rect">
            <a:avLst/>
          </a:prstGeom>
        </p:spPr>
      </p:pic>
      <p:pic>
        <p:nvPicPr>
          <p:cNvPr id="16" name="Picture 15" descr="svg_8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092" y="1525190"/>
            <a:ext cx="165099" cy="165100"/>
          </a:xfrm>
          <a:prstGeom prst="rect">
            <a:avLst/>
          </a:prstGeom>
        </p:spPr>
      </p:pic>
      <p:pic>
        <p:nvPicPr>
          <p:cNvPr id="17" name="Picture 16" descr="svg_8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58" y="3872805"/>
            <a:ext cx="165099" cy="165100"/>
          </a:xfrm>
          <a:prstGeom prst="rect">
            <a:avLst/>
          </a:prstGeom>
        </p:spPr>
      </p:pic>
      <p:pic>
        <p:nvPicPr>
          <p:cNvPr id="18" name="Picture 17" descr="svg_8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75" y="3872805"/>
            <a:ext cx="165099" cy="165100"/>
          </a:xfrm>
          <a:prstGeom prst="rect">
            <a:avLst/>
          </a:prstGeom>
        </p:spPr>
      </p:pic>
      <p:pic>
        <p:nvPicPr>
          <p:cNvPr id="19" name="Picture 18" descr="svg_8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092" y="3872805"/>
            <a:ext cx="165099" cy="165100"/>
          </a:xfrm>
          <a:prstGeom prst="rect">
            <a:avLst/>
          </a:prstGeom>
        </p:spPr>
      </p:pic>
      <p:pic>
        <p:nvPicPr>
          <p:cNvPr id="20" name="Picture 19" descr="img_44091689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工具集成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8" y="640060"/>
            <a:ext cx="2743192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9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与开发工具链深度集成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08" y="1870372"/>
            <a:ext cx="3379389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VS Code 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08" y="2133004"/>
            <a:ext cx="336719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终端内直接使用，配合 GitLens、ESLint 等插件无缝协作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2926" y="1870372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2926" y="2133004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在 CI/CD 流水线中调用 Claude Code 自动审查 PR、修复 lint 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9543" y="1870372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Docker 环境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9543" y="2133004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在容器内运行 Claude Code，确保与生产环境一致的开发体验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08" y="4217987"/>
            <a:ext cx="3379389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CLAUDE.md 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08" y="4480619"/>
            <a:ext cx="336719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项目级规范文件，定义代码风格、禁止操作与团队最佳实践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2926" y="4217987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MCP 协议扩展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2926" y="4480619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通过 Model Context Protocol 接入数据库、Slack、Jira 等外部系统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9543" y="4217987"/>
            <a:ext cx="3379488" cy="200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A13"/>
                </a:solidFill>
                <a:latin typeface="Manrope"/>
                <a:ea typeface="+mn-ea"/>
                <a:cs typeface="Manrope"/>
              </a:rPr>
              <a:t>自定义 Sub-agent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9543" y="4480619"/>
            <a:ext cx="3367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定义专属 Agent 执行特定任务，如代码审查员、文档生成器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99919" y="6430069"/>
            <a:ext cx="311049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98" y="1980604"/>
            <a:ext cx="5516846" cy="792261"/>
          </a:xfrm>
          <a:prstGeom prst="roundRect">
            <a:avLst>
              <a:gd name="adj" fmla="val 8015"/>
            </a:avLst>
          </a:prstGeom>
          <a:solidFill>
            <a:srgbClr val="0F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8" y="1980604"/>
            <a:ext cx="19049" cy="792261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824" y="1509414"/>
            <a:ext cx="5516945" cy="644326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824" y="1509414"/>
            <a:ext cx="19049" cy="644326"/>
          </a:xfrm>
          <a:prstGeom prst="roundRect">
            <a:avLst>
              <a:gd name="adj" fmla="val 3333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824" y="2245121"/>
            <a:ext cx="5516945" cy="631626"/>
          </a:xfrm>
          <a:prstGeom prst="rect">
            <a:avLst/>
          </a:prstGeom>
          <a:solidFill>
            <a:srgbClr val="02409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824" y="2245121"/>
            <a:ext cx="19049" cy="631626"/>
          </a:xfrm>
          <a:prstGeom prst="roundRect">
            <a:avLst>
              <a:gd name="adj" fmla="val 33333"/>
            </a:avLst>
          </a:prstGeom>
          <a:solidFill>
            <a:srgbClr val="024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4409168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364089"/>
            <a:ext cx="207267" cy="2399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198" y="457200"/>
            <a:ext cx="4816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0A758"/>
                </a:solidFill>
                <a:latin typeface="Manrope"/>
                <a:ea typeface="+mn-ea"/>
                <a:cs typeface="Manrope"/>
              </a:rPr>
              <a:t>立即开始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8" y="646410"/>
            <a:ext cx="1677601" cy="387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39" b="1" i="0">
                <a:solidFill>
                  <a:srgbClr val="0F1A13"/>
                </a:solidFill>
                <a:latin typeface="Manrope"/>
                <a:ea typeface="Noto Sans SC"/>
                <a:cs typeface="Manrope"/>
              </a:rPr>
              <a:t>让 AI 成为您的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8" y="926802"/>
            <a:ext cx="1677601" cy="387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39" b="1" i="0">
                <a:solidFill>
                  <a:srgbClr val="000000"/>
                </a:solidFill>
                <a:latin typeface="Manrope"/>
                <a:ea typeface="Noto Sans SC"/>
                <a:cs typeface="Manrope"/>
              </a:rPr>
              <a:t>编程协作伙伴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8" y="1522114"/>
            <a:ext cx="560625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Claude Code 不是替代开发者，而是让每位开发者都能以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5776" y="1522114"/>
            <a:ext cx="2797675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十倍的速度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8" y="1522114"/>
            <a:ext cx="5606253" cy="415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表达自己的想法——</a:t>
            </a:r>
          </a:p>
          <a:p>
            <a:pPr algn="l">
              <a:lnSpc>
                <a:spcPct val="170000"/>
              </a:lnSpc>
            </a:pPr>
            <a:r>
              <a:rPr sz="87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              将创造力聚焦在架构与业务逻辑，而非重复性代码编写。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89" y="2134195"/>
            <a:ext cx="533539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27" y="2134195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npm install -g @anthropic-ai/claude-code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89" y="2317055"/>
            <a:ext cx="533539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127" y="2317055"/>
            <a:ext cx="5213355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1" i="0">
                <a:solidFill>
                  <a:srgbClr val="00A758"/>
                </a:solidFill>
                <a:latin typeface="JetBrains Mono"/>
                <a:ea typeface="+mn-ea"/>
                <a:cs typeface="JetBrains Mono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89" y="2499915"/>
            <a:ext cx="5335394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799" b="0" i="0">
                <a:solidFill>
                  <a:srgbClr val="5A7C6A"/>
                </a:solidFill>
                <a:latin typeface="JetBrains Mono"/>
                <a:ea typeface="+mn-ea"/>
                <a:cs typeface="JetBrains Mono"/>
              </a:rPr>
              <a:t># 开始您的 AI 编程之旅 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9274" y="1643955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了解更多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9274" y="1852910"/>
            <a:ext cx="52743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官方文档：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7273" y="1884660"/>
            <a:ext cx="4766376" cy="144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0A758"/>
                </a:solidFill>
                <a:latin typeface="monospace"/>
                <a:ea typeface="+mn-ea"/>
                <a:cs typeface="monospace"/>
              </a:rPr>
              <a:t>docs.anthropic.com/claude-code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9274" y="2379662"/>
            <a:ext cx="5282503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79" b="1" i="0">
                <a:solidFill>
                  <a:srgbClr val="02306F"/>
                </a:solidFill>
                <a:latin typeface="Noto Sans SC"/>
                <a:ea typeface="Noto Sans SC"/>
                <a:cs typeface="Noto Sans SC"/>
              </a:rPr>
              <a:t>内部咨询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9274" y="2588617"/>
            <a:ext cx="52743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799" b="0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如需企业授权或内网部署支持，请联系中宏数字化团队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266" y="6366569"/>
            <a:ext cx="6690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266" y="6518969"/>
            <a:ext cx="663969" cy="107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MANULIFE-SINOCHEM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16291" y="6430069"/>
            <a:ext cx="29467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+mn-ea"/>
                <a:cs typeface="Manrope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